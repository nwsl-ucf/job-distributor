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57" r:id="rId2"/>
  </p:sldIdLst>
  <p:sldSz cx="43891200" cy="32918400"/>
  <p:notesSz cx="9144000" cy="6858000"/>
  <p:defaultTextStyle>
    <a:defPPr>
      <a:defRPr lang="en-US"/>
    </a:defPPr>
    <a:lvl1pPr algn="r" rtl="0" eaLnBrk="0" fontAlgn="base" hangingPunct="0">
      <a:spcBef>
        <a:spcPct val="0"/>
      </a:spcBef>
      <a:spcAft>
        <a:spcPct val="0"/>
      </a:spcAft>
      <a:defRPr sz="2400" kern="1200">
        <a:solidFill>
          <a:schemeClr val="tx1"/>
        </a:solidFill>
        <a:latin typeface="Times" charset="0"/>
        <a:ea typeface="+mn-ea"/>
        <a:cs typeface="+mn-cs"/>
      </a:defRPr>
    </a:lvl1pPr>
    <a:lvl2pPr marL="457182" algn="r" rtl="0" eaLnBrk="0" fontAlgn="base" hangingPunct="0">
      <a:spcBef>
        <a:spcPct val="0"/>
      </a:spcBef>
      <a:spcAft>
        <a:spcPct val="0"/>
      </a:spcAft>
      <a:defRPr sz="2400" kern="1200">
        <a:solidFill>
          <a:schemeClr val="tx1"/>
        </a:solidFill>
        <a:latin typeface="Times" charset="0"/>
        <a:ea typeface="+mn-ea"/>
        <a:cs typeface="+mn-cs"/>
      </a:defRPr>
    </a:lvl2pPr>
    <a:lvl3pPr marL="914364" algn="r" rtl="0" eaLnBrk="0" fontAlgn="base" hangingPunct="0">
      <a:spcBef>
        <a:spcPct val="0"/>
      </a:spcBef>
      <a:spcAft>
        <a:spcPct val="0"/>
      </a:spcAft>
      <a:defRPr sz="2400" kern="1200">
        <a:solidFill>
          <a:schemeClr val="tx1"/>
        </a:solidFill>
        <a:latin typeface="Times" charset="0"/>
        <a:ea typeface="+mn-ea"/>
        <a:cs typeface="+mn-cs"/>
      </a:defRPr>
    </a:lvl3pPr>
    <a:lvl4pPr marL="1371545" algn="r" rtl="0" eaLnBrk="0" fontAlgn="base" hangingPunct="0">
      <a:spcBef>
        <a:spcPct val="0"/>
      </a:spcBef>
      <a:spcAft>
        <a:spcPct val="0"/>
      </a:spcAft>
      <a:defRPr sz="2400" kern="1200">
        <a:solidFill>
          <a:schemeClr val="tx1"/>
        </a:solidFill>
        <a:latin typeface="Times" charset="0"/>
        <a:ea typeface="+mn-ea"/>
        <a:cs typeface="+mn-cs"/>
      </a:defRPr>
    </a:lvl4pPr>
    <a:lvl5pPr marL="1828727" algn="r" rtl="0" eaLnBrk="0" fontAlgn="base" hangingPunct="0">
      <a:spcBef>
        <a:spcPct val="0"/>
      </a:spcBef>
      <a:spcAft>
        <a:spcPct val="0"/>
      </a:spcAft>
      <a:defRPr sz="2400" kern="1200">
        <a:solidFill>
          <a:schemeClr val="tx1"/>
        </a:solidFill>
        <a:latin typeface="Times" charset="0"/>
        <a:ea typeface="+mn-ea"/>
        <a:cs typeface="+mn-cs"/>
      </a:defRPr>
    </a:lvl5pPr>
    <a:lvl6pPr marL="2285909" algn="l" defTabSz="914364" rtl="0" eaLnBrk="1" latinLnBrk="0" hangingPunct="1">
      <a:defRPr sz="2400" kern="1200">
        <a:solidFill>
          <a:schemeClr val="tx1"/>
        </a:solidFill>
        <a:latin typeface="Times" charset="0"/>
        <a:ea typeface="+mn-ea"/>
        <a:cs typeface="+mn-cs"/>
      </a:defRPr>
    </a:lvl6pPr>
    <a:lvl7pPr marL="2743091" algn="l" defTabSz="914364" rtl="0" eaLnBrk="1" latinLnBrk="0" hangingPunct="1">
      <a:defRPr sz="2400" kern="1200">
        <a:solidFill>
          <a:schemeClr val="tx1"/>
        </a:solidFill>
        <a:latin typeface="Times" charset="0"/>
        <a:ea typeface="+mn-ea"/>
        <a:cs typeface="+mn-cs"/>
      </a:defRPr>
    </a:lvl7pPr>
    <a:lvl8pPr marL="3200272" algn="l" defTabSz="914364" rtl="0" eaLnBrk="1" latinLnBrk="0" hangingPunct="1">
      <a:defRPr sz="2400" kern="1200">
        <a:solidFill>
          <a:schemeClr val="tx1"/>
        </a:solidFill>
        <a:latin typeface="Times" charset="0"/>
        <a:ea typeface="+mn-ea"/>
        <a:cs typeface="+mn-cs"/>
      </a:defRPr>
    </a:lvl8pPr>
    <a:lvl9pPr marL="3657454" algn="l" defTabSz="914364"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7776" userDrawn="1">
          <p15:clr>
            <a:srgbClr val="A4A3A4"/>
          </p15:clr>
        </p15:guide>
        <p15:guide id="2" pos="18432" userDrawn="1">
          <p15:clr>
            <a:srgbClr val="A4A3A4"/>
          </p15:clr>
        </p15:guide>
        <p15:guide id="3" orient="horz" pos="10368" userDrawn="1">
          <p15:clr>
            <a:srgbClr val="A4A3A4"/>
          </p15:clr>
        </p15:guide>
        <p15:guide id="4"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7F8"/>
    <a:srgbClr val="920000"/>
    <a:srgbClr val="FD9491"/>
    <a:srgbClr val="FD7E7B"/>
    <a:srgbClr val="FB3C37"/>
    <a:srgbClr val="EE7F04"/>
    <a:srgbClr val="16199C"/>
    <a:srgbClr val="FB8605"/>
    <a:srgbClr val="D77203"/>
    <a:srgbClr val="B315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autoAdjust="0"/>
    <p:restoredTop sz="96247" autoAdjust="0"/>
  </p:normalViewPr>
  <p:slideViewPr>
    <p:cSldViewPr>
      <p:cViewPr varScale="1">
        <p:scale>
          <a:sx n="31" d="100"/>
          <a:sy n="31" d="100"/>
        </p:scale>
        <p:origin x="2224" y="248"/>
      </p:cViewPr>
      <p:guideLst>
        <p:guide orient="horz" pos="7776"/>
        <p:guide pos="18432"/>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7EBFCA1F-E7C9-47B9-841C-75BA3232257F}" type="datetimeFigureOut">
              <a:rPr lang="en-US" smtClean="0"/>
              <a:t>9/30/25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08AF508-2848-4979-A02A-114BE77C89CA}" type="slidenum">
              <a:rPr lang="en-US" smtClean="0"/>
              <a:t>‹#›</a:t>
            </a:fld>
            <a:endParaRPr lang="en-US"/>
          </a:p>
        </p:txBody>
      </p:sp>
    </p:spTree>
    <p:extLst>
      <p:ext uri="{BB962C8B-B14F-4D97-AF65-F5344CB8AC3E}">
        <p14:creationId xmlns:p14="http://schemas.microsoft.com/office/powerpoint/2010/main" val="2065192711"/>
      </p:ext>
    </p:extLst>
  </p:cSld>
  <p:clrMap bg1="lt1" tx1="dk1" bg2="lt2" tx2="dk2" accent1="accent1" accent2="accent2" accent3="accent3" accent4="accent4" accent5="accent5" accent6="accent6" hlink="hlink" folHlink="folHlink"/>
  <p:notesStyle>
    <a:lvl1pPr marL="0" algn="l" defTabSz="914364" rtl="0" eaLnBrk="1" latinLnBrk="0" hangingPunct="1">
      <a:defRPr sz="1200" kern="1200">
        <a:solidFill>
          <a:schemeClr val="tx1"/>
        </a:solidFill>
        <a:latin typeface="+mn-lt"/>
        <a:ea typeface="+mn-ea"/>
        <a:cs typeface="+mn-cs"/>
      </a:defRPr>
    </a:lvl1pPr>
    <a:lvl2pPr marL="457182" algn="l" defTabSz="914364" rtl="0" eaLnBrk="1" latinLnBrk="0" hangingPunct="1">
      <a:defRPr sz="1200" kern="1200">
        <a:solidFill>
          <a:schemeClr val="tx1"/>
        </a:solidFill>
        <a:latin typeface="+mn-lt"/>
        <a:ea typeface="+mn-ea"/>
        <a:cs typeface="+mn-cs"/>
      </a:defRPr>
    </a:lvl2pPr>
    <a:lvl3pPr marL="914364" algn="l" defTabSz="914364" rtl="0" eaLnBrk="1" latinLnBrk="0" hangingPunct="1">
      <a:defRPr sz="1200" kern="1200">
        <a:solidFill>
          <a:schemeClr val="tx1"/>
        </a:solidFill>
        <a:latin typeface="+mn-lt"/>
        <a:ea typeface="+mn-ea"/>
        <a:cs typeface="+mn-cs"/>
      </a:defRPr>
    </a:lvl3pPr>
    <a:lvl4pPr marL="1371545" algn="l" defTabSz="914364" rtl="0" eaLnBrk="1" latinLnBrk="0" hangingPunct="1">
      <a:defRPr sz="1200" kern="1200">
        <a:solidFill>
          <a:schemeClr val="tx1"/>
        </a:solidFill>
        <a:latin typeface="+mn-lt"/>
        <a:ea typeface="+mn-ea"/>
        <a:cs typeface="+mn-cs"/>
      </a:defRPr>
    </a:lvl4pPr>
    <a:lvl5pPr marL="1828727" algn="l" defTabSz="914364" rtl="0" eaLnBrk="1" latinLnBrk="0" hangingPunct="1">
      <a:defRPr sz="1200" kern="1200">
        <a:solidFill>
          <a:schemeClr val="tx1"/>
        </a:solidFill>
        <a:latin typeface="+mn-lt"/>
        <a:ea typeface="+mn-ea"/>
        <a:cs typeface="+mn-cs"/>
      </a:defRPr>
    </a:lvl5pPr>
    <a:lvl6pPr marL="2285909" algn="l" defTabSz="914364" rtl="0" eaLnBrk="1" latinLnBrk="0" hangingPunct="1">
      <a:defRPr sz="1200" kern="1200">
        <a:solidFill>
          <a:schemeClr val="tx1"/>
        </a:solidFill>
        <a:latin typeface="+mn-lt"/>
        <a:ea typeface="+mn-ea"/>
        <a:cs typeface="+mn-cs"/>
      </a:defRPr>
    </a:lvl6pPr>
    <a:lvl7pPr marL="2743091" algn="l" defTabSz="914364" rtl="0" eaLnBrk="1" latinLnBrk="0" hangingPunct="1">
      <a:defRPr sz="1200" kern="1200">
        <a:solidFill>
          <a:schemeClr val="tx1"/>
        </a:solidFill>
        <a:latin typeface="+mn-lt"/>
        <a:ea typeface="+mn-ea"/>
        <a:cs typeface="+mn-cs"/>
      </a:defRPr>
    </a:lvl7pPr>
    <a:lvl8pPr marL="3200272" algn="l" defTabSz="914364" rtl="0" eaLnBrk="1" latinLnBrk="0" hangingPunct="1">
      <a:defRPr sz="1200" kern="1200">
        <a:solidFill>
          <a:schemeClr val="tx1"/>
        </a:solidFill>
        <a:latin typeface="+mn-lt"/>
        <a:ea typeface="+mn-ea"/>
        <a:cs typeface="+mn-cs"/>
      </a:defRPr>
    </a:lvl8pPr>
    <a:lvl9pPr marL="3657454" algn="l" defTabSz="91436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6" y="10226677"/>
            <a:ext cx="37306252" cy="70548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6583366" y="18653127"/>
            <a:ext cx="30724475" cy="8413750"/>
          </a:xfrm>
          <a:prstGeom prst="rect">
            <a:avLst/>
          </a:prstGeom>
        </p:spPr>
        <p:txBody>
          <a:bodyPr/>
          <a:lstStyle>
            <a:lvl1pPr marL="0" indent="0" algn="ctr">
              <a:buNone/>
              <a:defRPr/>
            </a:lvl1pPr>
            <a:lvl2pPr marL="342878" indent="0" algn="ctr">
              <a:buNone/>
              <a:defRPr/>
            </a:lvl2pPr>
            <a:lvl3pPr marL="685757" indent="0" algn="ctr">
              <a:buNone/>
              <a:defRPr/>
            </a:lvl3pPr>
            <a:lvl4pPr marL="1028634" indent="0" algn="ctr">
              <a:buNone/>
              <a:defRPr/>
            </a:lvl4pPr>
            <a:lvl5pPr marL="1371511" indent="0" algn="ctr">
              <a:buNone/>
              <a:defRPr/>
            </a:lvl5pPr>
            <a:lvl6pPr marL="1714388" indent="0" algn="ctr">
              <a:buNone/>
              <a:defRPr/>
            </a:lvl6pPr>
            <a:lvl7pPr marL="2057267" indent="0" algn="ctr">
              <a:buNone/>
              <a:defRPr/>
            </a:lvl7pPr>
            <a:lvl8pPr marL="2400144" indent="0" algn="ctr">
              <a:buNone/>
              <a:defRPr/>
            </a:lvl8pPr>
            <a:lvl9pPr marL="2743022"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7625"/>
            <a:ext cx="39503351" cy="5486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193928" y="7680326"/>
            <a:ext cx="39503351" cy="21724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1"/>
            <a:ext cx="37307839" cy="6537325"/>
          </a:xfrm>
          <a:prstGeom prst="rect">
            <a:avLst/>
          </a:prstGeo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a:prstGeom prst="rect">
            <a:avLst/>
          </a:prstGeom>
        </p:spPr>
        <p:txBody>
          <a:bodyPr anchor="b"/>
          <a:lstStyle>
            <a:lvl1pPr marL="0" indent="0">
              <a:buNone/>
              <a:defRPr sz="1500"/>
            </a:lvl1pPr>
            <a:lvl2pPr marL="342878" indent="0">
              <a:buNone/>
              <a:defRPr sz="1350"/>
            </a:lvl2pPr>
            <a:lvl3pPr marL="685757" indent="0">
              <a:buNone/>
              <a:defRPr sz="1200"/>
            </a:lvl3pPr>
            <a:lvl4pPr marL="1028634" indent="0">
              <a:buNone/>
              <a:defRPr sz="1050"/>
            </a:lvl4pPr>
            <a:lvl5pPr marL="1371511" indent="0">
              <a:buNone/>
              <a:defRPr sz="1050"/>
            </a:lvl5pPr>
            <a:lvl6pPr marL="1714388" indent="0">
              <a:buNone/>
              <a:defRPr sz="1050"/>
            </a:lvl6pPr>
            <a:lvl7pPr marL="2057267" indent="0">
              <a:buNone/>
              <a:defRPr sz="1050"/>
            </a:lvl7pPr>
            <a:lvl8pPr marL="2400144" indent="0">
              <a:buNone/>
              <a:defRPr sz="1050"/>
            </a:lvl8pPr>
            <a:lvl9pPr marL="2743022" indent="0">
              <a:buNone/>
              <a:defRPr sz="105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7625"/>
            <a:ext cx="39503351"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193926" y="7680326"/>
            <a:ext cx="19675475" cy="21724938"/>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2" y="7680326"/>
            <a:ext cx="19675475" cy="21724938"/>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7625"/>
            <a:ext cx="39503351"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8" y="7369178"/>
            <a:ext cx="19392900" cy="3070225"/>
          </a:xfrm>
          <a:prstGeom prst="rect">
            <a:avLst/>
          </a:prstGeom>
        </p:spPr>
        <p:txBody>
          <a:bodyPr anchor="b"/>
          <a:lstStyle>
            <a:lvl1pPr marL="0" indent="0">
              <a:buNone/>
              <a:defRPr sz="1800" b="1"/>
            </a:lvl1pPr>
            <a:lvl2pPr marL="342878" indent="0">
              <a:buNone/>
              <a:defRPr sz="1500" b="1"/>
            </a:lvl2pPr>
            <a:lvl3pPr marL="685757" indent="0">
              <a:buNone/>
              <a:defRPr sz="1350" b="1"/>
            </a:lvl3pPr>
            <a:lvl4pPr marL="1028634" indent="0">
              <a:buNone/>
              <a:defRPr sz="1200" b="1"/>
            </a:lvl4pPr>
            <a:lvl5pPr marL="1371511" indent="0">
              <a:buNone/>
              <a:defRPr sz="1200" b="1"/>
            </a:lvl5pPr>
            <a:lvl6pPr marL="1714388" indent="0">
              <a:buNone/>
              <a:defRPr sz="1200" b="1"/>
            </a:lvl6pPr>
            <a:lvl7pPr marL="2057267" indent="0">
              <a:buNone/>
              <a:defRPr sz="1200" b="1"/>
            </a:lvl7pPr>
            <a:lvl8pPr marL="2400144" indent="0">
              <a:buNone/>
              <a:defRPr sz="1200" b="1"/>
            </a:lvl8pPr>
            <a:lvl9pPr marL="2743022" indent="0">
              <a:buNone/>
              <a:defRPr sz="1200" b="1"/>
            </a:lvl9pPr>
          </a:lstStyle>
          <a:p>
            <a:pPr lvl="0"/>
            <a:r>
              <a:rPr lang="en-US"/>
              <a:t>Click to edit Master text styles</a:t>
            </a:r>
          </a:p>
        </p:txBody>
      </p:sp>
      <p:sp>
        <p:nvSpPr>
          <p:cNvPr id="4" name="Content Placeholder 3"/>
          <p:cNvSpPr>
            <a:spLocks noGrp="1"/>
          </p:cNvSpPr>
          <p:nvPr>
            <p:ph sz="half" idx="2"/>
          </p:nvPr>
        </p:nvSpPr>
        <p:spPr>
          <a:xfrm>
            <a:off x="2193928" y="10439403"/>
            <a:ext cx="19392900" cy="18965863"/>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5"/>
          </a:xfrm>
          <a:prstGeom prst="rect">
            <a:avLst/>
          </a:prstGeom>
        </p:spPr>
        <p:txBody>
          <a:bodyPr anchor="b"/>
          <a:lstStyle>
            <a:lvl1pPr marL="0" indent="0">
              <a:buNone/>
              <a:defRPr sz="1800" b="1"/>
            </a:lvl1pPr>
            <a:lvl2pPr marL="342878" indent="0">
              <a:buNone/>
              <a:defRPr sz="1500" b="1"/>
            </a:lvl2pPr>
            <a:lvl3pPr marL="685757" indent="0">
              <a:buNone/>
              <a:defRPr sz="1350" b="1"/>
            </a:lvl3pPr>
            <a:lvl4pPr marL="1028634" indent="0">
              <a:buNone/>
              <a:defRPr sz="1200" b="1"/>
            </a:lvl4pPr>
            <a:lvl5pPr marL="1371511" indent="0">
              <a:buNone/>
              <a:defRPr sz="1200" b="1"/>
            </a:lvl5pPr>
            <a:lvl6pPr marL="1714388" indent="0">
              <a:buNone/>
              <a:defRPr sz="1200" b="1"/>
            </a:lvl6pPr>
            <a:lvl7pPr marL="2057267" indent="0">
              <a:buNone/>
              <a:defRPr sz="1200" b="1"/>
            </a:lvl7pPr>
            <a:lvl8pPr marL="2400144" indent="0">
              <a:buNone/>
              <a:defRPr sz="1200" b="1"/>
            </a:lvl8pPr>
            <a:lvl9pPr marL="274302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22296440" y="10439403"/>
            <a:ext cx="19400837" cy="18965863"/>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7625"/>
            <a:ext cx="39503351" cy="54864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1278"/>
            <a:ext cx="14439900" cy="5576888"/>
          </a:xfrm>
          <a:prstGeom prst="rect">
            <a:avLst/>
          </a:prstGeo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17160875" y="1311278"/>
            <a:ext cx="24536400" cy="28093988"/>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8" y="6888163"/>
            <a:ext cx="14439900" cy="22517100"/>
          </a:xfrm>
          <a:prstGeom prst="rect">
            <a:avLst/>
          </a:prstGeom>
        </p:spPr>
        <p:txBody>
          <a:bodyPr/>
          <a:lstStyle>
            <a:lvl1pPr marL="0" indent="0">
              <a:buNone/>
              <a:defRPr sz="1050"/>
            </a:lvl1pPr>
            <a:lvl2pPr marL="342878" indent="0">
              <a:buNone/>
              <a:defRPr sz="900"/>
            </a:lvl2pPr>
            <a:lvl3pPr marL="685757" indent="0">
              <a:buNone/>
              <a:defRPr sz="750"/>
            </a:lvl3pPr>
            <a:lvl4pPr marL="1028634" indent="0">
              <a:buNone/>
              <a:defRPr sz="674"/>
            </a:lvl4pPr>
            <a:lvl5pPr marL="1371511" indent="0">
              <a:buNone/>
              <a:defRPr sz="674"/>
            </a:lvl5pPr>
            <a:lvl6pPr marL="1714388" indent="0">
              <a:buNone/>
              <a:defRPr sz="674"/>
            </a:lvl6pPr>
            <a:lvl7pPr marL="2057267" indent="0">
              <a:buNone/>
              <a:defRPr sz="674"/>
            </a:lvl7pPr>
            <a:lvl8pPr marL="2400144" indent="0">
              <a:buNone/>
              <a:defRPr sz="674"/>
            </a:lvl8pPr>
            <a:lvl9pPr marL="2743022" indent="0">
              <a:buNone/>
              <a:defRPr sz="674"/>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a:prstGeom prst="rect">
            <a:avLst/>
          </a:prstGeo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8602664" y="2941641"/>
            <a:ext cx="26335037" cy="19750087"/>
          </a:xfrm>
          <a:prstGeom prst="rect">
            <a:avLst/>
          </a:prstGeom>
        </p:spPr>
        <p:txBody>
          <a:bodyPr/>
          <a:lstStyle>
            <a:lvl1pPr marL="0" indent="0">
              <a:buNone/>
              <a:defRPr sz="2400"/>
            </a:lvl1pPr>
            <a:lvl2pPr marL="342878" indent="0">
              <a:buNone/>
              <a:defRPr sz="2100"/>
            </a:lvl2pPr>
            <a:lvl3pPr marL="685757" indent="0">
              <a:buNone/>
              <a:defRPr sz="1800"/>
            </a:lvl3pPr>
            <a:lvl4pPr marL="1028634" indent="0">
              <a:buNone/>
              <a:defRPr sz="1500"/>
            </a:lvl4pPr>
            <a:lvl5pPr marL="1371511" indent="0">
              <a:buNone/>
              <a:defRPr sz="1500"/>
            </a:lvl5pPr>
            <a:lvl6pPr marL="1714388" indent="0">
              <a:buNone/>
              <a:defRPr sz="1500"/>
            </a:lvl6pPr>
            <a:lvl7pPr marL="2057267" indent="0">
              <a:buNone/>
              <a:defRPr sz="1500"/>
            </a:lvl7pPr>
            <a:lvl8pPr marL="2400144" indent="0">
              <a:buNone/>
              <a:defRPr sz="1500"/>
            </a:lvl8pPr>
            <a:lvl9pPr marL="2743022" indent="0">
              <a:buNone/>
              <a:defRPr sz="1500"/>
            </a:lvl9pPr>
          </a:lstStyle>
          <a:p>
            <a:endParaRPr lang="en-US"/>
          </a:p>
        </p:txBody>
      </p:sp>
      <p:sp>
        <p:nvSpPr>
          <p:cNvPr id="4" name="Text Placeholder 3"/>
          <p:cNvSpPr>
            <a:spLocks noGrp="1"/>
          </p:cNvSpPr>
          <p:nvPr>
            <p:ph type="body" sz="half" idx="2"/>
          </p:nvPr>
        </p:nvSpPr>
        <p:spPr>
          <a:xfrm>
            <a:off x="8602664" y="25763541"/>
            <a:ext cx="26335037" cy="3862387"/>
          </a:xfrm>
          <a:prstGeom prst="rect">
            <a:avLst/>
          </a:prstGeom>
        </p:spPr>
        <p:txBody>
          <a:bodyPr/>
          <a:lstStyle>
            <a:lvl1pPr marL="0" indent="0">
              <a:buNone/>
              <a:defRPr sz="1050"/>
            </a:lvl1pPr>
            <a:lvl2pPr marL="342878" indent="0">
              <a:buNone/>
              <a:defRPr sz="900"/>
            </a:lvl2pPr>
            <a:lvl3pPr marL="685757" indent="0">
              <a:buNone/>
              <a:defRPr sz="750"/>
            </a:lvl3pPr>
            <a:lvl4pPr marL="1028634" indent="0">
              <a:buNone/>
              <a:defRPr sz="674"/>
            </a:lvl4pPr>
            <a:lvl5pPr marL="1371511" indent="0">
              <a:buNone/>
              <a:defRPr sz="674"/>
            </a:lvl5pPr>
            <a:lvl6pPr marL="1714388" indent="0">
              <a:buNone/>
              <a:defRPr sz="674"/>
            </a:lvl6pPr>
            <a:lvl7pPr marL="2057267" indent="0">
              <a:buNone/>
              <a:defRPr sz="674"/>
            </a:lvl7pPr>
            <a:lvl8pPr marL="2400144" indent="0">
              <a:buNone/>
              <a:defRPr sz="674"/>
            </a:lvl8pPr>
            <a:lvl9pPr marL="2743022" indent="0">
              <a:buNone/>
              <a:defRPr sz="674"/>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3928" y="1317625"/>
            <a:ext cx="39503351"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193928" y="7680326"/>
            <a:ext cx="39503351" cy="217249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40" y="1317626"/>
            <a:ext cx="9875837" cy="280876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9" y="1317626"/>
            <a:ext cx="29475113" cy="280876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chemeClr val="accent3">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0"/>
            <a:ext cx="43891200" cy="3581400"/>
          </a:xfrm>
          <a:prstGeom prst="rect">
            <a:avLst/>
          </a:prstGeom>
          <a:solidFill>
            <a:srgbClr val="920000"/>
          </a:solidFill>
          <a:ln w="9525">
            <a:noFill/>
            <a:miter lim="800000"/>
            <a:headEnd/>
            <a:tailEnd/>
          </a:ln>
          <a:effectLst/>
        </p:spPr>
        <p:txBody>
          <a:bodyPr wrap="none" anchor="ctr"/>
          <a:lstStyle/>
          <a:p>
            <a:pPr algn="ctr"/>
            <a:endParaRPr lang="en-US" sz="1800"/>
          </a:p>
        </p:txBody>
      </p:sp>
      <p:sp>
        <p:nvSpPr>
          <p:cNvPr id="1032" name="Rectangle 8"/>
          <p:cNvSpPr>
            <a:spLocks noChangeArrowheads="1"/>
          </p:cNvSpPr>
          <p:nvPr userDrawn="1"/>
        </p:nvSpPr>
        <p:spPr bwMode="auto">
          <a:xfrm>
            <a:off x="0" y="32074338"/>
            <a:ext cx="43891200" cy="827497"/>
          </a:xfrm>
          <a:prstGeom prst="rect">
            <a:avLst/>
          </a:prstGeom>
          <a:solidFill>
            <a:srgbClr val="920000"/>
          </a:solidFill>
          <a:ln w="9525">
            <a:noFill/>
            <a:miter lim="800000"/>
            <a:headEnd/>
            <a:tailEnd/>
          </a:ln>
          <a:effectLst/>
        </p:spPr>
        <p:txBody>
          <a:bodyPr wrap="none" anchor="ctr"/>
          <a:lstStyle/>
          <a:p>
            <a:endParaRPr lang="en-US" sz="1800"/>
          </a:p>
        </p:txBody>
      </p:sp>
      <p:sp>
        <p:nvSpPr>
          <p:cNvPr id="1033" name="Rectangle 9"/>
          <p:cNvSpPr>
            <a:spLocks noChangeArrowheads="1"/>
          </p:cNvSpPr>
          <p:nvPr userDrawn="1"/>
        </p:nvSpPr>
        <p:spPr bwMode="auto">
          <a:xfrm>
            <a:off x="0" y="3581400"/>
            <a:ext cx="43891200" cy="1600200"/>
          </a:xfrm>
          <a:prstGeom prst="rect">
            <a:avLst/>
          </a:prstGeom>
          <a:solidFill>
            <a:schemeClr val="bg2"/>
          </a:solidFill>
          <a:ln w="9525">
            <a:noFill/>
            <a:miter lim="800000"/>
            <a:headEnd/>
            <a:tailEnd/>
          </a:ln>
          <a:effectLst/>
        </p:spPr>
        <p:txBody>
          <a:bodyPr wrap="none" anchor="ctr"/>
          <a:lstStyle/>
          <a:p>
            <a:endParaRPr 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291865" rtl="0" fontAlgn="base">
        <a:spcBef>
          <a:spcPct val="0"/>
        </a:spcBef>
        <a:spcAft>
          <a:spcPct val="0"/>
        </a:spcAft>
        <a:defRPr sz="15824">
          <a:solidFill>
            <a:schemeClr val="tx2"/>
          </a:solidFill>
          <a:latin typeface="+mj-lt"/>
          <a:ea typeface="+mj-ea"/>
          <a:cs typeface="+mj-cs"/>
        </a:defRPr>
      </a:lvl1pPr>
      <a:lvl2pPr algn="ctr" defTabSz="3291865" rtl="0" fontAlgn="base">
        <a:spcBef>
          <a:spcPct val="0"/>
        </a:spcBef>
        <a:spcAft>
          <a:spcPct val="0"/>
        </a:spcAft>
        <a:defRPr sz="15824">
          <a:solidFill>
            <a:schemeClr val="tx2"/>
          </a:solidFill>
          <a:latin typeface="Times" charset="0"/>
        </a:defRPr>
      </a:lvl2pPr>
      <a:lvl3pPr algn="ctr" defTabSz="3291865" rtl="0" fontAlgn="base">
        <a:spcBef>
          <a:spcPct val="0"/>
        </a:spcBef>
        <a:spcAft>
          <a:spcPct val="0"/>
        </a:spcAft>
        <a:defRPr sz="15824">
          <a:solidFill>
            <a:schemeClr val="tx2"/>
          </a:solidFill>
          <a:latin typeface="Times" charset="0"/>
        </a:defRPr>
      </a:lvl3pPr>
      <a:lvl4pPr algn="ctr" defTabSz="3291865" rtl="0" fontAlgn="base">
        <a:spcBef>
          <a:spcPct val="0"/>
        </a:spcBef>
        <a:spcAft>
          <a:spcPct val="0"/>
        </a:spcAft>
        <a:defRPr sz="15824">
          <a:solidFill>
            <a:schemeClr val="tx2"/>
          </a:solidFill>
          <a:latin typeface="Times" charset="0"/>
        </a:defRPr>
      </a:lvl4pPr>
      <a:lvl5pPr algn="ctr" defTabSz="3291865" rtl="0" fontAlgn="base">
        <a:spcBef>
          <a:spcPct val="0"/>
        </a:spcBef>
        <a:spcAft>
          <a:spcPct val="0"/>
        </a:spcAft>
        <a:defRPr sz="15824">
          <a:solidFill>
            <a:schemeClr val="tx2"/>
          </a:solidFill>
          <a:latin typeface="Times" charset="0"/>
        </a:defRPr>
      </a:lvl5pPr>
      <a:lvl6pPr marL="342878" algn="ctr" defTabSz="3291865" rtl="0" fontAlgn="base">
        <a:spcBef>
          <a:spcPct val="0"/>
        </a:spcBef>
        <a:spcAft>
          <a:spcPct val="0"/>
        </a:spcAft>
        <a:defRPr sz="15824">
          <a:solidFill>
            <a:schemeClr val="tx2"/>
          </a:solidFill>
          <a:latin typeface="Times" charset="0"/>
        </a:defRPr>
      </a:lvl6pPr>
      <a:lvl7pPr marL="685757" algn="ctr" defTabSz="3291865" rtl="0" fontAlgn="base">
        <a:spcBef>
          <a:spcPct val="0"/>
        </a:spcBef>
        <a:spcAft>
          <a:spcPct val="0"/>
        </a:spcAft>
        <a:defRPr sz="15824">
          <a:solidFill>
            <a:schemeClr val="tx2"/>
          </a:solidFill>
          <a:latin typeface="Times" charset="0"/>
        </a:defRPr>
      </a:lvl7pPr>
      <a:lvl8pPr marL="1028634" algn="ctr" defTabSz="3291865" rtl="0" fontAlgn="base">
        <a:spcBef>
          <a:spcPct val="0"/>
        </a:spcBef>
        <a:spcAft>
          <a:spcPct val="0"/>
        </a:spcAft>
        <a:defRPr sz="15824">
          <a:solidFill>
            <a:schemeClr val="tx2"/>
          </a:solidFill>
          <a:latin typeface="Times" charset="0"/>
        </a:defRPr>
      </a:lvl8pPr>
      <a:lvl9pPr marL="1371511" algn="ctr" defTabSz="3291865" rtl="0" fontAlgn="base">
        <a:spcBef>
          <a:spcPct val="0"/>
        </a:spcBef>
        <a:spcAft>
          <a:spcPct val="0"/>
        </a:spcAft>
        <a:defRPr sz="15824">
          <a:solidFill>
            <a:schemeClr val="tx2"/>
          </a:solidFill>
          <a:latin typeface="Times" charset="0"/>
        </a:defRPr>
      </a:lvl9pPr>
    </p:titleStyle>
    <p:bodyStyle>
      <a:lvl1pPr marL="1234598" indent="-1234598" algn="l" defTabSz="3291865" rtl="0" fontAlgn="base">
        <a:spcBef>
          <a:spcPct val="20000"/>
        </a:spcBef>
        <a:spcAft>
          <a:spcPct val="0"/>
        </a:spcAft>
        <a:buChar char="•"/>
        <a:defRPr sz="11550">
          <a:solidFill>
            <a:schemeClr val="tx1"/>
          </a:solidFill>
          <a:latin typeface="+mn-lt"/>
          <a:ea typeface="+mn-ea"/>
          <a:cs typeface="+mn-cs"/>
        </a:defRPr>
      </a:lvl1pPr>
      <a:lvl2pPr marL="2673970" indent="-1028634" algn="l" defTabSz="3291865" rtl="0" fontAlgn="base">
        <a:spcBef>
          <a:spcPct val="20000"/>
        </a:spcBef>
        <a:spcAft>
          <a:spcPct val="0"/>
        </a:spcAft>
        <a:buChar char="–"/>
        <a:defRPr sz="10050">
          <a:solidFill>
            <a:schemeClr val="tx1"/>
          </a:solidFill>
          <a:latin typeface="+mn-lt"/>
        </a:defRPr>
      </a:lvl2pPr>
      <a:lvl3pPr marL="4114532" indent="-822670" algn="l" defTabSz="3291865" rtl="0" fontAlgn="base">
        <a:spcBef>
          <a:spcPct val="20000"/>
        </a:spcBef>
        <a:spcAft>
          <a:spcPct val="0"/>
        </a:spcAft>
        <a:buChar char="•"/>
        <a:defRPr sz="8624">
          <a:solidFill>
            <a:schemeClr val="tx1"/>
          </a:solidFill>
          <a:latin typeface="+mn-lt"/>
        </a:defRPr>
      </a:lvl3pPr>
      <a:lvl4pPr marL="5759869" indent="-822670" algn="l" defTabSz="3291865" rtl="0" fontAlgn="base">
        <a:spcBef>
          <a:spcPct val="20000"/>
        </a:spcBef>
        <a:spcAft>
          <a:spcPct val="0"/>
        </a:spcAft>
        <a:buChar char="–"/>
        <a:defRPr sz="7200">
          <a:solidFill>
            <a:schemeClr val="tx1"/>
          </a:solidFill>
          <a:latin typeface="+mn-lt"/>
        </a:defRPr>
      </a:lvl4pPr>
      <a:lvl5pPr marL="7406396" indent="-822670" algn="l" defTabSz="3291865" rtl="0" fontAlgn="base">
        <a:spcBef>
          <a:spcPct val="20000"/>
        </a:spcBef>
        <a:spcAft>
          <a:spcPct val="0"/>
        </a:spcAft>
        <a:buChar char="»"/>
        <a:defRPr sz="7200">
          <a:solidFill>
            <a:schemeClr val="tx1"/>
          </a:solidFill>
          <a:latin typeface="+mn-lt"/>
        </a:defRPr>
      </a:lvl5pPr>
      <a:lvl6pPr marL="7749275" indent="-822670" algn="l" defTabSz="3291865" rtl="0" fontAlgn="base">
        <a:spcBef>
          <a:spcPct val="20000"/>
        </a:spcBef>
        <a:spcAft>
          <a:spcPct val="0"/>
        </a:spcAft>
        <a:buChar char="»"/>
        <a:defRPr sz="7200">
          <a:solidFill>
            <a:schemeClr val="tx1"/>
          </a:solidFill>
          <a:latin typeface="+mn-lt"/>
        </a:defRPr>
      </a:lvl6pPr>
      <a:lvl7pPr marL="8092152" indent="-822670" algn="l" defTabSz="3291865" rtl="0" fontAlgn="base">
        <a:spcBef>
          <a:spcPct val="20000"/>
        </a:spcBef>
        <a:spcAft>
          <a:spcPct val="0"/>
        </a:spcAft>
        <a:buChar char="»"/>
        <a:defRPr sz="7200">
          <a:solidFill>
            <a:schemeClr val="tx1"/>
          </a:solidFill>
          <a:latin typeface="+mn-lt"/>
        </a:defRPr>
      </a:lvl7pPr>
      <a:lvl8pPr marL="8435030" indent="-822670" algn="l" defTabSz="3291865" rtl="0" fontAlgn="base">
        <a:spcBef>
          <a:spcPct val="20000"/>
        </a:spcBef>
        <a:spcAft>
          <a:spcPct val="0"/>
        </a:spcAft>
        <a:buChar char="»"/>
        <a:defRPr sz="7200">
          <a:solidFill>
            <a:schemeClr val="tx1"/>
          </a:solidFill>
          <a:latin typeface="+mn-lt"/>
        </a:defRPr>
      </a:lvl8pPr>
      <a:lvl9pPr marL="8777909" indent="-822670" algn="l" defTabSz="3291865" rtl="0" fontAlgn="base">
        <a:spcBef>
          <a:spcPct val="20000"/>
        </a:spcBef>
        <a:spcAft>
          <a:spcPct val="0"/>
        </a:spcAft>
        <a:buChar char="»"/>
        <a:defRPr sz="7200">
          <a:solidFill>
            <a:schemeClr val="tx1"/>
          </a:solidFill>
          <a:latin typeface="+mn-lt"/>
        </a:defRPr>
      </a:lvl9pPr>
    </p:bodyStyle>
    <p:otherStyle>
      <a:defPPr>
        <a:defRPr lang="en-US"/>
      </a:defPPr>
      <a:lvl1pPr marL="0" algn="l" defTabSz="685757" rtl="0" eaLnBrk="1" latinLnBrk="0" hangingPunct="1">
        <a:defRPr sz="1350" kern="1200">
          <a:solidFill>
            <a:schemeClr val="tx1"/>
          </a:solidFill>
          <a:latin typeface="+mn-lt"/>
          <a:ea typeface="+mn-ea"/>
          <a:cs typeface="+mn-cs"/>
        </a:defRPr>
      </a:lvl1pPr>
      <a:lvl2pPr marL="342878" algn="l" defTabSz="685757" rtl="0" eaLnBrk="1" latinLnBrk="0" hangingPunct="1">
        <a:defRPr sz="1350" kern="1200">
          <a:solidFill>
            <a:schemeClr val="tx1"/>
          </a:solidFill>
          <a:latin typeface="+mn-lt"/>
          <a:ea typeface="+mn-ea"/>
          <a:cs typeface="+mn-cs"/>
        </a:defRPr>
      </a:lvl2pPr>
      <a:lvl3pPr marL="685757" algn="l" defTabSz="685757" rtl="0" eaLnBrk="1" latinLnBrk="0" hangingPunct="1">
        <a:defRPr sz="1350" kern="1200">
          <a:solidFill>
            <a:schemeClr val="tx1"/>
          </a:solidFill>
          <a:latin typeface="+mn-lt"/>
          <a:ea typeface="+mn-ea"/>
          <a:cs typeface="+mn-cs"/>
        </a:defRPr>
      </a:lvl3pPr>
      <a:lvl4pPr marL="1028634" algn="l" defTabSz="685757" rtl="0" eaLnBrk="1" latinLnBrk="0" hangingPunct="1">
        <a:defRPr sz="1350" kern="1200">
          <a:solidFill>
            <a:schemeClr val="tx1"/>
          </a:solidFill>
          <a:latin typeface="+mn-lt"/>
          <a:ea typeface="+mn-ea"/>
          <a:cs typeface="+mn-cs"/>
        </a:defRPr>
      </a:lvl4pPr>
      <a:lvl5pPr marL="1371511" algn="l" defTabSz="685757" rtl="0" eaLnBrk="1" latinLnBrk="0" hangingPunct="1">
        <a:defRPr sz="1350" kern="1200">
          <a:solidFill>
            <a:schemeClr val="tx1"/>
          </a:solidFill>
          <a:latin typeface="+mn-lt"/>
          <a:ea typeface="+mn-ea"/>
          <a:cs typeface="+mn-cs"/>
        </a:defRPr>
      </a:lvl5pPr>
      <a:lvl6pPr marL="1714388" algn="l" defTabSz="685757" rtl="0" eaLnBrk="1" latinLnBrk="0" hangingPunct="1">
        <a:defRPr sz="1350" kern="1200">
          <a:solidFill>
            <a:schemeClr val="tx1"/>
          </a:solidFill>
          <a:latin typeface="+mn-lt"/>
          <a:ea typeface="+mn-ea"/>
          <a:cs typeface="+mn-cs"/>
        </a:defRPr>
      </a:lvl6pPr>
      <a:lvl7pPr marL="2057267" algn="l" defTabSz="685757" rtl="0" eaLnBrk="1" latinLnBrk="0" hangingPunct="1">
        <a:defRPr sz="1350" kern="1200">
          <a:solidFill>
            <a:schemeClr val="tx1"/>
          </a:solidFill>
          <a:latin typeface="+mn-lt"/>
          <a:ea typeface="+mn-ea"/>
          <a:cs typeface="+mn-cs"/>
        </a:defRPr>
      </a:lvl7pPr>
      <a:lvl8pPr marL="2400144" algn="l" defTabSz="685757" rtl="0" eaLnBrk="1" latinLnBrk="0" hangingPunct="1">
        <a:defRPr sz="1350" kern="1200">
          <a:solidFill>
            <a:schemeClr val="tx1"/>
          </a:solidFill>
          <a:latin typeface="+mn-lt"/>
          <a:ea typeface="+mn-ea"/>
          <a:cs typeface="+mn-cs"/>
        </a:defRPr>
      </a:lvl8pPr>
      <a:lvl9pPr marL="2743022" algn="l" defTabSz="685757"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png"/><Relationship Id="rId17" Type="http://schemas.openxmlformats.org/officeDocument/2006/relationships/hyperlink" Target="https://jobdistributor.abdur-rouf.com/" TargetMode="External"/><Relationship Id="rId2" Type="http://schemas.openxmlformats.org/officeDocument/2006/relationships/image" Target="../media/image1.png"/><Relationship Id="rId16" Type="http://schemas.openxmlformats.org/officeDocument/2006/relationships/hyperlink" Target="https://github.com/NWSL-UCF/job-distributor.git" TargetMode="Externa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0.emf"/><Relationship Id="rId5" Type="http://schemas.openxmlformats.org/officeDocument/2006/relationships/image" Target="../media/image4.emf"/><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emf"/><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extLst>
              <a:ext uri="{FF2B5EF4-FFF2-40B4-BE49-F238E27FC236}">
                <a16:creationId xmlns:a16="http://schemas.microsoft.com/office/drawing/2014/main" id="{34C37FBE-8FD1-FA5A-2E94-BFDB49F10AFE}"/>
              </a:ext>
            </a:extLst>
          </p:cNvPr>
          <p:cNvSpPr txBox="1">
            <a:spLocks noChangeArrowheads="1"/>
          </p:cNvSpPr>
          <p:nvPr/>
        </p:nvSpPr>
        <p:spPr bwMode="auto">
          <a:xfrm>
            <a:off x="25504614" y="3594291"/>
            <a:ext cx="6761236" cy="1569660"/>
          </a:xfrm>
          <a:prstGeom prst="rect">
            <a:avLst/>
          </a:prstGeom>
          <a:noFill/>
          <a:ln w="9525">
            <a:noFill/>
            <a:miter lim="800000"/>
            <a:headEnd/>
            <a:tailEnd/>
          </a:ln>
          <a:effectLst/>
        </p:spPr>
        <p:txBody>
          <a:bodyPr wrap="square">
            <a:spAutoFit/>
          </a:bodyPr>
          <a:lstStyle/>
          <a:p>
            <a:pPr algn="ctr">
              <a:spcBef>
                <a:spcPct val="50000"/>
              </a:spcBef>
            </a:pPr>
            <a:r>
              <a:rPr lang="en-US" sz="5280" b="1" dirty="0">
                <a:latin typeface="Candara" panose="020E0502030303020204" pitchFamily="34" charset="0"/>
                <a:ea typeface="Cambria" panose="02040503050406030204" pitchFamily="18" charset="0"/>
                <a:cs typeface="Arial" panose="020B0604020202020204" pitchFamily="34" charset="0"/>
              </a:rPr>
              <a:t>Shafaq Chaudhry</a:t>
            </a:r>
          </a:p>
          <a:p>
            <a:pPr algn="ctr"/>
            <a:r>
              <a:rPr lang="en-US" sz="4320" dirty="0" err="1">
                <a:latin typeface="Candara" panose="020E0502030303020204" pitchFamily="34" charset="0"/>
                <a:ea typeface="Cambria" panose="02040503050406030204" pitchFamily="18" charset="0"/>
                <a:cs typeface="Arial" panose="020B0604020202020204" pitchFamily="34" charset="0"/>
              </a:rPr>
              <a:t>Shafaq.Chaudhry@ucf.edu</a:t>
            </a:r>
            <a:endParaRPr lang="en-US" sz="4320" dirty="0">
              <a:latin typeface="Candara" panose="020E0502030303020204" pitchFamily="34" charset="0"/>
              <a:ea typeface="Cambria" panose="02040503050406030204" pitchFamily="18" charset="0"/>
              <a:cs typeface="Arial" panose="020B0604020202020204" pitchFamily="34" charset="0"/>
            </a:endParaRPr>
          </a:p>
        </p:txBody>
      </p:sp>
      <p:sp>
        <p:nvSpPr>
          <p:cNvPr id="4" name="Text Box 16">
            <a:extLst>
              <a:ext uri="{FF2B5EF4-FFF2-40B4-BE49-F238E27FC236}">
                <a16:creationId xmlns:a16="http://schemas.microsoft.com/office/drawing/2014/main" id="{C05F8CB5-96FF-F26B-C71D-324EF5B29FD0}"/>
              </a:ext>
            </a:extLst>
          </p:cNvPr>
          <p:cNvSpPr txBox="1">
            <a:spLocks noChangeArrowheads="1"/>
          </p:cNvSpPr>
          <p:nvPr/>
        </p:nvSpPr>
        <p:spPr bwMode="auto">
          <a:xfrm>
            <a:off x="7009250" y="12959"/>
            <a:ext cx="30443803" cy="3490186"/>
          </a:xfrm>
          <a:prstGeom prst="rect">
            <a:avLst/>
          </a:prstGeom>
          <a:noFill/>
          <a:ln w="9525">
            <a:noFill/>
            <a:miter lim="800000"/>
            <a:headEnd/>
            <a:tailEnd/>
          </a:ln>
          <a:effectLst/>
        </p:spPr>
        <p:txBody>
          <a:bodyPr wrap="square">
            <a:spAutoFit/>
          </a:bodyPr>
          <a:lstStyle/>
          <a:p>
            <a:pPr algn="ctr"/>
            <a:r>
              <a:rPr lang="en-US" sz="11040" b="1" dirty="0">
                <a:solidFill>
                  <a:srgbClr val="FFFF00"/>
                </a:solidFill>
                <a:latin typeface="Candara" panose="020E0502030303020204" pitchFamily="34" charset="0"/>
              </a:rPr>
              <a:t>DART: Distributed Assignment of Research Tasks for Heterogeneous Compute Environments</a:t>
            </a:r>
          </a:p>
        </p:txBody>
      </p:sp>
      <p:sp>
        <p:nvSpPr>
          <p:cNvPr id="5" name="Rounded Rectangle 11">
            <a:extLst>
              <a:ext uri="{FF2B5EF4-FFF2-40B4-BE49-F238E27FC236}">
                <a16:creationId xmlns:a16="http://schemas.microsoft.com/office/drawing/2014/main" id="{9B895863-6855-6867-2E27-1F06FDB463AE}"/>
              </a:ext>
            </a:extLst>
          </p:cNvPr>
          <p:cNvSpPr/>
          <p:nvPr/>
        </p:nvSpPr>
        <p:spPr bwMode="auto">
          <a:xfrm>
            <a:off x="781740" y="5351580"/>
            <a:ext cx="1371600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Introduction</a:t>
            </a:r>
          </a:p>
        </p:txBody>
      </p:sp>
      <p:sp>
        <p:nvSpPr>
          <p:cNvPr id="6" name="Rounded Rectangle 34">
            <a:extLst>
              <a:ext uri="{FF2B5EF4-FFF2-40B4-BE49-F238E27FC236}">
                <a16:creationId xmlns:a16="http://schemas.microsoft.com/office/drawing/2014/main" id="{D360F52D-A9F8-ACE6-C173-450F258296F6}"/>
              </a:ext>
            </a:extLst>
          </p:cNvPr>
          <p:cNvSpPr/>
          <p:nvPr/>
        </p:nvSpPr>
        <p:spPr bwMode="auto">
          <a:xfrm>
            <a:off x="790403" y="14003056"/>
            <a:ext cx="1371600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Conventional Research Workflow</a:t>
            </a:r>
          </a:p>
        </p:txBody>
      </p:sp>
      <p:sp>
        <p:nvSpPr>
          <p:cNvPr id="9" name="Rounded Rectangle 186">
            <a:extLst>
              <a:ext uri="{FF2B5EF4-FFF2-40B4-BE49-F238E27FC236}">
                <a16:creationId xmlns:a16="http://schemas.microsoft.com/office/drawing/2014/main" id="{F468C02A-418E-BC8B-6632-5568E7B5841A}"/>
              </a:ext>
            </a:extLst>
          </p:cNvPr>
          <p:cNvSpPr/>
          <p:nvPr/>
        </p:nvSpPr>
        <p:spPr bwMode="auto">
          <a:xfrm>
            <a:off x="29635638" y="5360451"/>
            <a:ext cx="1371600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DART Dashboard</a:t>
            </a:r>
          </a:p>
        </p:txBody>
      </p:sp>
      <p:sp>
        <p:nvSpPr>
          <p:cNvPr id="10" name="Text Box 13">
            <a:extLst>
              <a:ext uri="{FF2B5EF4-FFF2-40B4-BE49-F238E27FC236}">
                <a16:creationId xmlns:a16="http://schemas.microsoft.com/office/drawing/2014/main" id="{E137A9F5-8CC3-6591-0546-08C5751AF24A}"/>
              </a:ext>
            </a:extLst>
          </p:cNvPr>
          <p:cNvSpPr txBox="1">
            <a:spLocks noChangeArrowheads="1"/>
          </p:cNvSpPr>
          <p:nvPr/>
        </p:nvSpPr>
        <p:spPr bwMode="auto">
          <a:xfrm>
            <a:off x="7516109" y="3598893"/>
            <a:ext cx="5372102" cy="1569660"/>
          </a:xfrm>
          <a:prstGeom prst="rect">
            <a:avLst/>
          </a:prstGeom>
          <a:noFill/>
          <a:ln w="9525">
            <a:noFill/>
            <a:miter lim="800000"/>
            <a:headEnd/>
            <a:tailEnd/>
          </a:ln>
          <a:effectLst/>
        </p:spPr>
        <p:txBody>
          <a:bodyPr wrap="square">
            <a:spAutoFit/>
          </a:bodyPr>
          <a:lstStyle/>
          <a:p>
            <a:pPr algn="ctr">
              <a:spcBef>
                <a:spcPct val="50000"/>
              </a:spcBef>
            </a:pPr>
            <a:r>
              <a:rPr lang="en-US" sz="5280" b="1" dirty="0">
                <a:latin typeface="Candara" panose="020E0502030303020204" pitchFamily="34" charset="0"/>
                <a:ea typeface="Cambria" panose="02040503050406030204" pitchFamily="18" charset="0"/>
                <a:cs typeface="Arial" panose="020B0604020202020204" pitchFamily="34" charset="0"/>
              </a:rPr>
              <a:t>Abdur Rouf</a:t>
            </a:r>
          </a:p>
          <a:p>
            <a:pPr algn="ctr"/>
            <a:r>
              <a:rPr lang="en-US" sz="4320" dirty="0" err="1">
                <a:latin typeface="Candara" panose="020E0502030303020204" pitchFamily="34" charset="0"/>
                <a:ea typeface="Cambria" panose="02040503050406030204" pitchFamily="18" charset="0"/>
                <a:cs typeface="Arial" panose="020B0604020202020204" pitchFamily="34" charset="0"/>
              </a:rPr>
              <a:t>Abdur.rouf@ucf.edu</a:t>
            </a:r>
            <a:endParaRPr lang="en-US" sz="4320" dirty="0">
              <a:latin typeface="Candara" panose="020E0502030303020204" pitchFamily="34" charset="0"/>
              <a:ea typeface="Cambria" panose="02040503050406030204" pitchFamily="18" charset="0"/>
              <a:cs typeface="Arial" panose="020B0604020202020204" pitchFamily="34" charset="0"/>
            </a:endParaRPr>
          </a:p>
        </p:txBody>
      </p:sp>
      <p:sp>
        <p:nvSpPr>
          <p:cNvPr id="12" name="Rounded Rectangle 250">
            <a:extLst>
              <a:ext uri="{FF2B5EF4-FFF2-40B4-BE49-F238E27FC236}">
                <a16:creationId xmlns:a16="http://schemas.microsoft.com/office/drawing/2014/main" id="{B5DA7F25-15E2-CC5F-9BFE-0C64DEA84E42}"/>
              </a:ext>
            </a:extLst>
          </p:cNvPr>
          <p:cNvSpPr/>
          <p:nvPr/>
        </p:nvSpPr>
        <p:spPr bwMode="auto">
          <a:xfrm>
            <a:off x="15191930" y="5367229"/>
            <a:ext cx="13671722"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Key Contributions</a:t>
            </a:r>
            <a:endParaRPr lang="en-US" sz="4320" b="1" i="1" dirty="0">
              <a:solidFill>
                <a:srgbClr val="920000"/>
              </a:solidFill>
              <a:latin typeface="Candara" panose="020E0502030303020204" pitchFamily="34" charset="0"/>
              <a:ea typeface="Cambria" panose="02040503050406030204" pitchFamily="18" charset="0"/>
              <a:cs typeface="Arial" panose="020B0604020202020204" pitchFamily="34" charset="0"/>
            </a:endParaRPr>
          </a:p>
        </p:txBody>
      </p:sp>
      <p:sp>
        <p:nvSpPr>
          <p:cNvPr id="19" name="TextBox 18">
            <a:extLst>
              <a:ext uri="{FF2B5EF4-FFF2-40B4-BE49-F238E27FC236}">
                <a16:creationId xmlns:a16="http://schemas.microsoft.com/office/drawing/2014/main" id="{E70570ED-293D-6003-45BE-47AC2BE936E6}"/>
              </a:ext>
            </a:extLst>
          </p:cNvPr>
          <p:cNvSpPr txBox="1"/>
          <p:nvPr/>
        </p:nvSpPr>
        <p:spPr>
          <a:xfrm>
            <a:off x="715645" y="6277285"/>
            <a:ext cx="13798153" cy="7478970"/>
          </a:xfrm>
          <a:prstGeom prst="rect">
            <a:avLst/>
          </a:prstGeom>
          <a:noFill/>
        </p:spPr>
        <p:txBody>
          <a:bodyPr wrap="square" rtlCol="0">
            <a:spAutoFit/>
          </a:bodyPr>
          <a:lstStyle/>
          <a:p>
            <a:pPr algn="just"/>
            <a:r>
              <a:rPr lang="en-US" sz="3000" dirty="0">
                <a:solidFill>
                  <a:schemeClr val="tx1"/>
                </a:solidFill>
                <a:latin typeface="Candara" panose="020E0502030303020204" pitchFamily="34" charset="0"/>
              </a:rPr>
              <a:t>Modern research increasingly relies on diverse computing resources ranging from personal laptops and cloud VMs to institutional HPC clusters. Managing jobs across such heterogeneous systems is often complex, requiring significant setup and expertise. To address this challenge, we present </a:t>
            </a:r>
            <a:r>
              <a:rPr lang="en-US" sz="3000" b="1" dirty="0">
                <a:solidFill>
                  <a:schemeClr val="tx1"/>
                </a:solidFill>
                <a:latin typeface="Candara" panose="020E0502030303020204" pitchFamily="34" charset="0"/>
              </a:rPr>
              <a:t>DART</a:t>
            </a:r>
            <a:r>
              <a:rPr lang="en-US" sz="3000" dirty="0">
                <a:solidFill>
                  <a:schemeClr val="tx1"/>
                </a:solidFill>
                <a:latin typeface="Candara" panose="020E0502030303020204" pitchFamily="34" charset="0"/>
              </a:rPr>
              <a:t>, a lightweight, platform-agnostic job distributor designed for academic research.</a:t>
            </a:r>
          </a:p>
          <a:p>
            <a:pPr algn="just"/>
            <a:r>
              <a:rPr lang="en-US" sz="3000" b="1" dirty="0">
                <a:solidFill>
                  <a:schemeClr val="tx1"/>
                </a:solidFill>
                <a:latin typeface="Candara" panose="020E0502030303020204" pitchFamily="34" charset="0"/>
              </a:rPr>
              <a:t>DART</a:t>
            </a:r>
            <a:r>
              <a:rPr lang="en-US" sz="3000" dirty="0">
                <a:solidFill>
                  <a:schemeClr val="tx1"/>
                </a:solidFill>
                <a:latin typeface="Candara" panose="020E0502030303020204" pitchFamily="34" charset="0"/>
              </a:rPr>
              <a:t> emphasizes </a:t>
            </a:r>
            <a:r>
              <a:rPr lang="en-US" sz="3000" b="1" dirty="0">
                <a:solidFill>
                  <a:schemeClr val="tx1"/>
                </a:solidFill>
                <a:latin typeface="Candara" panose="020E0502030303020204" pitchFamily="34" charset="0"/>
              </a:rPr>
              <a:t>simplicity, portability, and minimal configuration</a:t>
            </a:r>
            <a:r>
              <a:rPr lang="en-US" sz="3000" dirty="0">
                <a:solidFill>
                  <a:schemeClr val="tx1"/>
                </a:solidFill>
                <a:latin typeface="Candara" panose="020E0502030303020204" pitchFamily="34" charset="0"/>
              </a:rPr>
              <a:t>, enabling seamless job submission, monitoring, and fault-tolerant rescheduling without the overhead of traditional orchestration frameworks. Unlike tools such as </a:t>
            </a:r>
            <a:r>
              <a:rPr lang="en-US" sz="3000" b="1" dirty="0" err="1">
                <a:solidFill>
                  <a:schemeClr val="tx1"/>
                </a:solidFill>
                <a:latin typeface="Candara" panose="020E0502030303020204" pitchFamily="34" charset="0"/>
              </a:rPr>
              <a:t>Dask</a:t>
            </a:r>
            <a:r>
              <a:rPr lang="en-US" sz="3000" dirty="0">
                <a:solidFill>
                  <a:schemeClr val="tx1"/>
                </a:solidFill>
                <a:latin typeface="Candara" panose="020E0502030303020204" pitchFamily="34" charset="0"/>
              </a:rPr>
              <a:t> or </a:t>
            </a:r>
            <a:r>
              <a:rPr lang="en-US" sz="3000" b="1" dirty="0" err="1">
                <a:solidFill>
                  <a:schemeClr val="tx1"/>
                </a:solidFill>
                <a:latin typeface="Candara" panose="020E0502030303020204" pitchFamily="34" charset="0"/>
              </a:rPr>
              <a:t>HTCondor</a:t>
            </a:r>
            <a:r>
              <a:rPr lang="en-US" sz="3000" dirty="0">
                <a:solidFill>
                  <a:schemeClr val="tx1"/>
                </a:solidFill>
                <a:latin typeface="Candara" panose="020E0502030303020204" pitchFamily="34" charset="0"/>
              </a:rPr>
              <a:t>, </a:t>
            </a:r>
            <a:r>
              <a:rPr lang="en-US" sz="3000" b="1" dirty="0">
                <a:solidFill>
                  <a:schemeClr val="tx1"/>
                </a:solidFill>
                <a:latin typeface="Candara" panose="020E0502030303020204" pitchFamily="34" charset="0"/>
              </a:rPr>
              <a:t>DART</a:t>
            </a:r>
            <a:r>
              <a:rPr lang="en-US" sz="3000" dirty="0">
                <a:solidFill>
                  <a:schemeClr val="tx1"/>
                </a:solidFill>
                <a:latin typeface="Candara" panose="020E0502030303020204" pitchFamily="34" charset="0"/>
              </a:rPr>
              <a:t> provides an intuitive interface and quick deployment using simple </a:t>
            </a:r>
            <a:r>
              <a:rPr lang="en-US" sz="3000" b="1" dirty="0">
                <a:solidFill>
                  <a:schemeClr val="tx1"/>
                </a:solidFill>
                <a:latin typeface="Candara" panose="020E0502030303020204" pitchFamily="34" charset="0"/>
              </a:rPr>
              <a:t>JSON</a:t>
            </a:r>
            <a:r>
              <a:rPr lang="en-US" sz="3000" dirty="0">
                <a:solidFill>
                  <a:schemeClr val="tx1"/>
                </a:solidFill>
                <a:latin typeface="Candara" panose="020E0502030303020204" pitchFamily="34" charset="0"/>
              </a:rPr>
              <a:t> configurations, making it especially suitable for researchers handling evolving workflows.</a:t>
            </a:r>
          </a:p>
          <a:p>
            <a:pPr algn="just"/>
            <a:r>
              <a:rPr lang="en-US" sz="3000" dirty="0">
                <a:solidFill>
                  <a:schemeClr val="tx1"/>
                </a:solidFill>
                <a:latin typeface="Candara" panose="020E0502030303020204" pitchFamily="34" charset="0"/>
              </a:rPr>
              <a:t>In large-scale experiments with </a:t>
            </a:r>
            <a:r>
              <a:rPr lang="en-US" sz="3000" b="1" dirty="0">
                <a:solidFill>
                  <a:schemeClr val="tx1"/>
                </a:solidFill>
                <a:latin typeface="Candara" panose="020E0502030303020204" pitchFamily="34" charset="0"/>
              </a:rPr>
              <a:t>37,720 jobs distributed over 68 heterogeneous machines</a:t>
            </a:r>
            <a:r>
              <a:rPr lang="en-US" sz="3000" dirty="0">
                <a:solidFill>
                  <a:schemeClr val="tx1"/>
                </a:solidFill>
                <a:latin typeface="Candara" panose="020E0502030303020204" pitchFamily="34" charset="0"/>
              </a:rPr>
              <a:t>, DART’s dynamic allocation achieved up to a </a:t>
            </a:r>
            <a:r>
              <a:rPr lang="en-US" sz="3000" b="1" dirty="0">
                <a:solidFill>
                  <a:schemeClr val="tx1"/>
                </a:solidFill>
                <a:latin typeface="Candara" panose="020E0502030303020204" pitchFamily="34" charset="0"/>
              </a:rPr>
              <a:t>35× speedup</a:t>
            </a:r>
            <a:r>
              <a:rPr lang="en-US" sz="3000" dirty="0">
                <a:solidFill>
                  <a:schemeClr val="tx1"/>
                </a:solidFill>
                <a:latin typeface="Candara" panose="020E0502030303020204" pitchFamily="34" charset="0"/>
              </a:rPr>
              <a:t> compared to static strategies, reducing turnaround from months to days. These results highlight </a:t>
            </a:r>
            <a:r>
              <a:rPr lang="en-US" sz="3000" b="1" dirty="0">
                <a:solidFill>
                  <a:schemeClr val="tx1"/>
                </a:solidFill>
                <a:latin typeface="Candara" panose="020E0502030303020204" pitchFamily="34" charset="0"/>
              </a:rPr>
              <a:t>DART</a:t>
            </a:r>
            <a:r>
              <a:rPr lang="en-US" sz="3000" dirty="0">
                <a:solidFill>
                  <a:schemeClr val="tx1"/>
                </a:solidFill>
                <a:latin typeface="Candara" panose="020E0502030303020204" pitchFamily="34" charset="0"/>
              </a:rPr>
              <a:t> as an efficient solution for managing distributed computational tasks in today’s research.</a:t>
            </a:r>
          </a:p>
        </p:txBody>
      </p:sp>
      <p:sp>
        <p:nvSpPr>
          <p:cNvPr id="97" name="Rounded Rectangle 378">
            <a:extLst>
              <a:ext uri="{FF2B5EF4-FFF2-40B4-BE49-F238E27FC236}">
                <a16:creationId xmlns:a16="http://schemas.microsoft.com/office/drawing/2014/main" id="{AFE714A9-C080-C066-F94B-6C5E80F3631A}"/>
              </a:ext>
            </a:extLst>
          </p:cNvPr>
          <p:cNvSpPr/>
          <p:nvPr/>
        </p:nvSpPr>
        <p:spPr bwMode="auto">
          <a:xfrm>
            <a:off x="29638813" y="15922782"/>
            <a:ext cx="1371600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Leveraging Resource Heterogeneity</a:t>
            </a:r>
          </a:p>
        </p:txBody>
      </p:sp>
      <p:sp>
        <p:nvSpPr>
          <p:cNvPr id="106" name="Rounded Rectangle 155">
            <a:extLst>
              <a:ext uri="{FF2B5EF4-FFF2-40B4-BE49-F238E27FC236}">
                <a16:creationId xmlns:a16="http://schemas.microsoft.com/office/drawing/2014/main" id="{EE2B9F37-0CA0-DC7B-5570-22E4C051A902}"/>
              </a:ext>
            </a:extLst>
          </p:cNvPr>
          <p:cNvSpPr/>
          <p:nvPr/>
        </p:nvSpPr>
        <p:spPr bwMode="auto">
          <a:xfrm>
            <a:off x="15301131" y="9914095"/>
            <a:ext cx="1367172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Architecture &amp; Components</a:t>
            </a:r>
          </a:p>
        </p:txBody>
      </p:sp>
      <p:pic>
        <p:nvPicPr>
          <p:cNvPr id="117" name="Picture 6">
            <a:extLst>
              <a:ext uri="{FF2B5EF4-FFF2-40B4-BE49-F238E27FC236}">
                <a16:creationId xmlns:a16="http://schemas.microsoft.com/office/drawing/2014/main" id="{E0372676-BDF8-DDFE-91ED-E579B6F3C723}"/>
              </a:ext>
            </a:extLst>
          </p:cNvPr>
          <p:cNvPicPr>
            <a:picLocks noChangeAspect="1"/>
          </p:cNvPicPr>
          <p:nvPr/>
        </p:nvPicPr>
        <p:blipFill rotWithShape="1">
          <a:blip r:embed="rId2">
            <a:extLst>
              <a:ext uri="{28A0092B-C50C-407E-A947-70E740481C1C}">
                <a14:useLocalDpi xmlns:a14="http://schemas.microsoft.com/office/drawing/2010/main" val="0"/>
              </a:ext>
            </a:extLst>
          </a:blip>
          <a:srcRect t="9765"/>
          <a:stretch/>
        </p:blipFill>
        <p:spPr bwMode="auto">
          <a:xfrm>
            <a:off x="41631449" y="32079377"/>
            <a:ext cx="2259751"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119">
            <a:extLst>
              <a:ext uri="{FF2B5EF4-FFF2-40B4-BE49-F238E27FC236}">
                <a16:creationId xmlns:a16="http://schemas.microsoft.com/office/drawing/2014/main" id="{77D448EB-9554-E450-9B09-2A647E2F81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15035" y="32079377"/>
            <a:ext cx="716414" cy="822960"/>
          </a:xfrm>
          <a:prstGeom prst="rect">
            <a:avLst/>
          </a:prstGeom>
        </p:spPr>
      </p:pic>
      <p:sp>
        <p:nvSpPr>
          <p:cNvPr id="1073" name="Rounded Rectangle 56">
            <a:extLst>
              <a:ext uri="{FF2B5EF4-FFF2-40B4-BE49-F238E27FC236}">
                <a16:creationId xmlns:a16="http://schemas.microsoft.com/office/drawing/2014/main" id="{9447CA34-FB5B-0A09-7A51-E4094A322B17}"/>
              </a:ext>
            </a:extLst>
          </p:cNvPr>
          <p:cNvSpPr/>
          <p:nvPr/>
        </p:nvSpPr>
        <p:spPr bwMode="auto">
          <a:xfrm>
            <a:off x="777893" y="24612600"/>
            <a:ext cx="13715999"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DART Workflow</a:t>
            </a:r>
          </a:p>
        </p:txBody>
      </p:sp>
      <p:sp>
        <p:nvSpPr>
          <p:cNvPr id="1076" name="TextBox 1075">
            <a:extLst>
              <a:ext uri="{FF2B5EF4-FFF2-40B4-BE49-F238E27FC236}">
                <a16:creationId xmlns:a16="http://schemas.microsoft.com/office/drawing/2014/main" id="{8DDC509F-8DE7-E8A0-8347-3E7DBDE8E7F7}"/>
              </a:ext>
            </a:extLst>
          </p:cNvPr>
          <p:cNvSpPr txBox="1"/>
          <p:nvPr/>
        </p:nvSpPr>
        <p:spPr>
          <a:xfrm>
            <a:off x="29655121" y="16946307"/>
            <a:ext cx="13458186" cy="3841052"/>
          </a:xfrm>
          <a:prstGeom prst="rect">
            <a:avLst/>
          </a:prstGeom>
          <a:noFill/>
        </p:spPr>
        <p:txBody>
          <a:bodyPr wrap="square" rtlCol="0">
            <a:spAutoFit/>
          </a:bodyPr>
          <a:lstStyle/>
          <a:p>
            <a:pPr marL="914382" lvl="1" indent="-457200" algn="just">
              <a:buFont typeface="Wingdings" panose="05000000000000000000" pitchFamily="2" charset="2"/>
              <a:buChar char="v"/>
            </a:pPr>
            <a:r>
              <a:rPr lang="en-US" sz="3000" dirty="0">
                <a:latin typeface="Candara" panose="020E0502030303020204" pitchFamily="34" charset="0"/>
              </a:rPr>
              <a:t>Machine have different speeds --- faster ones complete jobs in less time</a:t>
            </a:r>
          </a:p>
          <a:p>
            <a:pPr marL="914382" lvl="1" indent="-457200" algn="just">
              <a:buFont typeface="Wingdings" panose="05000000000000000000" pitchFamily="2" charset="2"/>
              <a:buChar char="v"/>
            </a:pPr>
            <a:r>
              <a:rPr lang="en-US" sz="3000" b="1" dirty="0">
                <a:latin typeface="Candara" panose="020E0502030303020204" pitchFamily="34" charset="0"/>
                <a:cs typeface="Times New Roman" panose="02020603050405020304" pitchFamily="18" charset="0"/>
              </a:rPr>
              <a:t>DART dynamically assigns more jobs</a:t>
            </a:r>
            <a:r>
              <a:rPr lang="en-US" sz="3000" dirty="0">
                <a:latin typeface="Candara" panose="020E0502030303020204" pitchFamily="34" charset="0"/>
                <a:cs typeface="Times New Roman" panose="02020603050405020304" pitchFamily="18" charset="0"/>
              </a:rPr>
              <a:t> to faster machines, reducing overall </a:t>
            </a:r>
            <a:r>
              <a:rPr lang="en-US" sz="3000" dirty="0" err="1">
                <a:latin typeface="Candara" panose="020E0502030303020204" pitchFamily="34" charset="0"/>
                <a:cs typeface="Times New Roman" panose="02020603050405020304" pitchFamily="18" charset="0"/>
              </a:rPr>
              <a:t>makespan</a:t>
            </a:r>
            <a:r>
              <a:rPr lang="en-US" sz="3000" dirty="0">
                <a:latin typeface="Candara" panose="020E0502030303020204" pitchFamily="34" charset="0"/>
                <a:cs typeface="Times New Roman" panose="02020603050405020304" pitchFamily="18" charset="0"/>
              </a:rPr>
              <a:t>.</a:t>
            </a:r>
            <a:endParaRPr lang="en-US" sz="3000" i="1" dirty="0">
              <a:latin typeface="Candara" panose="020E0502030303020204" pitchFamily="34" charset="0"/>
            </a:endParaRPr>
          </a:p>
          <a:p>
            <a:pPr marL="914382" lvl="1" indent="-457200" algn="just">
              <a:buFont typeface="Wingdings" panose="05000000000000000000" pitchFamily="2" charset="2"/>
              <a:buChar char="v"/>
            </a:pPr>
            <a:r>
              <a:rPr lang="en-US" sz="3000" b="1" dirty="0">
                <a:latin typeface="Candara" panose="020E0502030303020204" pitchFamily="34" charset="0"/>
                <a:cs typeface="Times New Roman" panose="02020603050405020304" pitchFamily="18" charset="0"/>
              </a:rPr>
              <a:t>Observation:</a:t>
            </a:r>
            <a:r>
              <a:rPr lang="en-US" sz="3000" dirty="0">
                <a:latin typeface="Candara" panose="020E0502030303020204" pitchFamily="34" charset="0"/>
                <a:cs typeface="Times New Roman" panose="02020603050405020304" pitchFamily="18" charset="0"/>
              </a:rPr>
              <a:t> Clear inverse correlation between machine runtime and number of jobs assigned.</a:t>
            </a:r>
          </a:p>
          <a:p>
            <a:pPr marL="914382" lvl="1" indent="-457200" algn="just">
              <a:buFont typeface="Wingdings" panose="05000000000000000000" pitchFamily="2" charset="2"/>
              <a:buChar char="v"/>
            </a:pPr>
            <a:r>
              <a:rPr lang="en-US" sz="3000" b="1" dirty="0">
                <a:latin typeface="Candara" panose="020E0502030303020204" pitchFamily="34" charset="0"/>
                <a:cs typeface="Times New Roman" panose="02020603050405020304" pitchFamily="18" charset="0"/>
              </a:rPr>
              <a:t>Real-world factors</a:t>
            </a:r>
            <a:r>
              <a:rPr lang="en-US" sz="3000" dirty="0">
                <a:latin typeface="Candara" panose="020E0502030303020204" pitchFamily="34" charset="0"/>
                <a:cs typeface="Times New Roman" panose="02020603050405020304" pitchFamily="18" charset="0"/>
              </a:rPr>
              <a:t> (e.g., job failures, task variability, node availability) cause small deviations but overall trend is strong.</a:t>
            </a:r>
          </a:p>
          <a:p>
            <a:pPr marL="914382" lvl="1" indent="-457200" algn="just">
              <a:buFont typeface="Wingdings" panose="05000000000000000000" pitchFamily="2" charset="2"/>
              <a:buChar char="v"/>
            </a:pPr>
            <a:endParaRPr lang="en-US" sz="3360" dirty="0">
              <a:latin typeface="Candara" panose="020E0502030303020204" pitchFamily="34" charset="0"/>
            </a:endParaRPr>
          </a:p>
        </p:txBody>
      </p:sp>
      <p:pic>
        <p:nvPicPr>
          <p:cNvPr id="1205" name="Picture 1204">
            <a:extLst>
              <a:ext uri="{FF2B5EF4-FFF2-40B4-BE49-F238E27FC236}">
                <a16:creationId xmlns:a16="http://schemas.microsoft.com/office/drawing/2014/main" id="{6B1F8D0F-EF05-5A29-00B8-5851CA4A6D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80" y="0"/>
            <a:ext cx="2695254" cy="3566160"/>
          </a:xfrm>
          <a:prstGeom prst="rect">
            <a:avLst/>
          </a:prstGeom>
        </p:spPr>
      </p:pic>
      <p:cxnSp>
        <p:nvCxnSpPr>
          <p:cNvPr id="1247" name="Straight Connector 1246">
            <a:extLst>
              <a:ext uri="{FF2B5EF4-FFF2-40B4-BE49-F238E27FC236}">
                <a16:creationId xmlns:a16="http://schemas.microsoft.com/office/drawing/2014/main" id="{27E064AB-07F2-1A6B-DA59-48453620B165}"/>
              </a:ext>
            </a:extLst>
          </p:cNvPr>
          <p:cNvCxnSpPr>
            <a:cxnSpLocks/>
          </p:cNvCxnSpPr>
          <p:nvPr/>
        </p:nvCxnSpPr>
        <p:spPr bwMode="auto">
          <a:xfrm>
            <a:off x="13015250" y="3982582"/>
            <a:ext cx="0" cy="838200"/>
          </a:xfrm>
          <a:prstGeom prst="line">
            <a:avLst/>
          </a:prstGeom>
          <a:solidFill>
            <a:schemeClr val="accent1"/>
          </a:solidFill>
          <a:ln w="3175" cap="flat" cmpd="sng" algn="ctr">
            <a:solidFill>
              <a:schemeClr val="tx1"/>
            </a:solidFill>
            <a:prstDash val="solid"/>
            <a:round/>
            <a:headEnd type="none" w="med" len="med"/>
            <a:tailEnd type="none" w="med" len="med"/>
          </a:ln>
          <a:effectLst/>
        </p:spPr>
      </p:cxnSp>
      <p:cxnSp>
        <p:nvCxnSpPr>
          <p:cNvPr id="1251" name="Straight Connector 1250">
            <a:extLst>
              <a:ext uri="{FF2B5EF4-FFF2-40B4-BE49-F238E27FC236}">
                <a16:creationId xmlns:a16="http://schemas.microsoft.com/office/drawing/2014/main" id="{E7D667C5-1372-221E-2D17-9021DE4CB7DA}"/>
              </a:ext>
            </a:extLst>
          </p:cNvPr>
          <p:cNvCxnSpPr>
            <a:cxnSpLocks/>
          </p:cNvCxnSpPr>
          <p:nvPr/>
        </p:nvCxnSpPr>
        <p:spPr bwMode="auto">
          <a:xfrm>
            <a:off x="32492235" y="4037157"/>
            <a:ext cx="0" cy="838200"/>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2" name="Text Box 13">
            <a:extLst>
              <a:ext uri="{FF2B5EF4-FFF2-40B4-BE49-F238E27FC236}">
                <a16:creationId xmlns:a16="http://schemas.microsoft.com/office/drawing/2014/main" id="{1D15EEE0-C560-F778-B452-EB3C081CD7AC}"/>
              </a:ext>
            </a:extLst>
          </p:cNvPr>
          <p:cNvSpPr txBox="1">
            <a:spLocks noChangeArrowheads="1"/>
          </p:cNvSpPr>
          <p:nvPr/>
        </p:nvSpPr>
        <p:spPr bwMode="auto">
          <a:xfrm>
            <a:off x="12984712" y="3598893"/>
            <a:ext cx="7489321" cy="1569660"/>
          </a:xfrm>
          <a:prstGeom prst="rect">
            <a:avLst/>
          </a:prstGeom>
          <a:noFill/>
          <a:ln w="9525">
            <a:noFill/>
            <a:miter lim="800000"/>
            <a:headEnd/>
            <a:tailEnd/>
          </a:ln>
          <a:effectLst/>
        </p:spPr>
        <p:txBody>
          <a:bodyPr wrap="square">
            <a:spAutoFit/>
          </a:bodyPr>
          <a:lstStyle/>
          <a:p>
            <a:pPr algn="ctr">
              <a:spcBef>
                <a:spcPct val="50000"/>
              </a:spcBef>
            </a:pPr>
            <a:r>
              <a:rPr lang="en-US" sz="5280" b="1" dirty="0">
                <a:latin typeface="Candara" panose="020E0502030303020204" pitchFamily="34" charset="0"/>
                <a:ea typeface="Cambria" panose="02040503050406030204" pitchFamily="18" charset="0"/>
                <a:cs typeface="Arial" panose="020B0604020202020204" pitchFamily="34" charset="0"/>
              </a:rPr>
              <a:t>Fahad Ahmad Khan</a:t>
            </a:r>
          </a:p>
          <a:p>
            <a:pPr algn="ctr"/>
            <a:r>
              <a:rPr lang="en-US" sz="4320" dirty="0" err="1">
                <a:latin typeface="Candara" panose="020E0502030303020204" pitchFamily="34" charset="0"/>
                <a:ea typeface="Cambria" panose="02040503050406030204" pitchFamily="18" charset="0"/>
                <a:cs typeface="Arial" panose="020B0604020202020204" pitchFamily="34" charset="0"/>
              </a:rPr>
              <a:t>Fahad.Khan@ucf.edu</a:t>
            </a:r>
            <a:endParaRPr lang="en-US" sz="4320" dirty="0">
              <a:latin typeface="Candara" panose="020E0502030303020204" pitchFamily="34" charset="0"/>
              <a:ea typeface="Cambria" panose="02040503050406030204" pitchFamily="18" charset="0"/>
              <a:cs typeface="Arial" panose="020B0604020202020204" pitchFamily="34" charset="0"/>
            </a:endParaRPr>
          </a:p>
        </p:txBody>
      </p:sp>
      <p:sp>
        <p:nvSpPr>
          <p:cNvPr id="11" name="Text Box 13">
            <a:extLst>
              <a:ext uri="{FF2B5EF4-FFF2-40B4-BE49-F238E27FC236}">
                <a16:creationId xmlns:a16="http://schemas.microsoft.com/office/drawing/2014/main" id="{AEC673A1-A16A-8A79-92C4-74C4CE967B0E}"/>
              </a:ext>
            </a:extLst>
          </p:cNvPr>
          <p:cNvSpPr txBox="1">
            <a:spLocks noChangeArrowheads="1"/>
          </p:cNvSpPr>
          <p:nvPr/>
        </p:nvSpPr>
        <p:spPr bwMode="auto">
          <a:xfrm>
            <a:off x="20165683" y="3604342"/>
            <a:ext cx="5145581" cy="1569660"/>
          </a:xfrm>
          <a:prstGeom prst="rect">
            <a:avLst/>
          </a:prstGeom>
          <a:noFill/>
          <a:ln w="9525">
            <a:noFill/>
            <a:miter lim="800000"/>
            <a:headEnd/>
            <a:tailEnd/>
          </a:ln>
          <a:effectLst/>
        </p:spPr>
        <p:txBody>
          <a:bodyPr wrap="square">
            <a:spAutoFit/>
          </a:bodyPr>
          <a:lstStyle/>
          <a:p>
            <a:pPr algn="ctr">
              <a:spcBef>
                <a:spcPct val="50000"/>
              </a:spcBef>
            </a:pPr>
            <a:r>
              <a:rPr lang="en-US" sz="5280" b="1" dirty="0">
                <a:latin typeface="Candara" panose="020E0502030303020204" pitchFamily="34" charset="0"/>
                <a:ea typeface="Cambria" panose="02040503050406030204" pitchFamily="18" charset="0"/>
                <a:cs typeface="Arial" panose="020B0604020202020204" pitchFamily="34" charset="0"/>
              </a:rPr>
              <a:t>Benjamin Keene</a:t>
            </a:r>
          </a:p>
          <a:p>
            <a:pPr algn="ctr"/>
            <a:r>
              <a:rPr lang="en-US" sz="4320" dirty="0" err="1">
                <a:latin typeface="Candara" panose="020E0502030303020204" pitchFamily="34" charset="0"/>
                <a:ea typeface="Cambria" panose="02040503050406030204" pitchFamily="18" charset="0"/>
                <a:cs typeface="Arial" panose="020B0604020202020204" pitchFamily="34" charset="0"/>
              </a:rPr>
              <a:t>Keene@ucf.edu</a:t>
            </a:r>
            <a:endParaRPr lang="en-US" sz="4320" dirty="0">
              <a:latin typeface="Candara" panose="020E0502030303020204" pitchFamily="34" charset="0"/>
              <a:ea typeface="Cambria" panose="02040503050406030204" pitchFamily="18" charset="0"/>
              <a:cs typeface="Arial" panose="020B0604020202020204" pitchFamily="34" charset="0"/>
            </a:endParaRPr>
          </a:p>
        </p:txBody>
      </p:sp>
      <p:sp>
        <p:nvSpPr>
          <p:cNvPr id="13" name="Text Box 13">
            <a:extLst>
              <a:ext uri="{FF2B5EF4-FFF2-40B4-BE49-F238E27FC236}">
                <a16:creationId xmlns:a16="http://schemas.microsoft.com/office/drawing/2014/main" id="{3769536E-5A7A-9A27-0E07-376B4CDABA93}"/>
              </a:ext>
            </a:extLst>
          </p:cNvPr>
          <p:cNvSpPr txBox="1">
            <a:spLocks noChangeArrowheads="1"/>
          </p:cNvSpPr>
          <p:nvPr/>
        </p:nvSpPr>
        <p:spPr bwMode="auto">
          <a:xfrm>
            <a:off x="32588736" y="3597099"/>
            <a:ext cx="6258057" cy="1569660"/>
          </a:xfrm>
          <a:prstGeom prst="rect">
            <a:avLst/>
          </a:prstGeom>
          <a:noFill/>
          <a:ln w="9525">
            <a:noFill/>
            <a:miter lim="800000"/>
            <a:headEnd/>
            <a:tailEnd/>
          </a:ln>
          <a:effectLst/>
        </p:spPr>
        <p:txBody>
          <a:bodyPr wrap="square">
            <a:spAutoFit/>
          </a:bodyPr>
          <a:lstStyle/>
          <a:p>
            <a:pPr algn="ctr">
              <a:spcBef>
                <a:spcPct val="50000"/>
              </a:spcBef>
            </a:pPr>
            <a:r>
              <a:rPr lang="en-US" sz="5280" b="1" dirty="0">
                <a:latin typeface="Candara" panose="020E0502030303020204" pitchFamily="34" charset="0"/>
                <a:ea typeface="Cambria" panose="02040503050406030204" pitchFamily="18" charset="0"/>
                <a:cs typeface="Arial" panose="020B0604020202020204" pitchFamily="34" charset="0"/>
              </a:rPr>
              <a:t>Murat Yuksel</a:t>
            </a:r>
          </a:p>
          <a:p>
            <a:pPr algn="ctr"/>
            <a:r>
              <a:rPr lang="en-US" sz="4320" dirty="0" err="1">
                <a:latin typeface="Candara" panose="020E0502030303020204" pitchFamily="34" charset="0"/>
                <a:ea typeface="Cambria" panose="02040503050406030204" pitchFamily="18" charset="0"/>
                <a:cs typeface="Arial" panose="020B0604020202020204" pitchFamily="34" charset="0"/>
              </a:rPr>
              <a:t>Murat.Yuksel@ucf.edu</a:t>
            </a:r>
            <a:endParaRPr lang="en-US" sz="4320" dirty="0">
              <a:latin typeface="Candara" panose="020E0502030303020204" pitchFamily="34" charset="0"/>
              <a:ea typeface="Cambria" panose="02040503050406030204" pitchFamily="18" charset="0"/>
              <a:cs typeface="Arial" panose="020B0604020202020204" pitchFamily="34" charset="0"/>
            </a:endParaRPr>
          </a:p>
        </p:txBody>
      </p:sp>
      <p:cxnSp>
        <p:nvCxnSpPr>
          <p:cNvPr id="18" name="Straight Connector 17">
            <a:extLst>
              <a:ext uri="{FF2B5EF4-FFF2-40B4-BE49-F238E27FC236}">
                <a16:creationId xmlns:a16="http://schemas.microsoft.com/office/drawing/2014/main" id="{DF2764CE-87A7-B4D8-3003-C3CFF7B96FD3}"/>
              </a:ext>
            </a:extLst>
          </p:cNvPr>
          <p:cNvCxnSpPr>
            <a:cxnSpLocks/>
          </p:cNvCxnSpPr>
          <p:nvPr/>
        </p:nvCxnSpPr>
        <p:spPr bwMode="auto">
          <a:xfrm>
            <a:off x="20015177" y="4001654"/>
            <a:ext cx="0" cy="838200"/>
          </a:xfrm>
          <a:prstGeom prst="line">
            <a:avLst/>
          </a:prstGeom>
          <a:solidFill>
            <a:schemeClr val="accent1"/>
          </a:solidFill>
          <a:ln w="3175"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C2DFFC19-DA2D-F13F-F2E8-5EF81444A22C}"/>
              </a:ext>
            </a:extLst>
          </p:cNvPr>
          <p:cNvCxnSpPr>
            <a:cxnSpLocks/>
          </p:cNvCxnSpPr>
          <p:nvPr/>
        </p:nvCxnSpPr>
        <p:spPr bwMode="auto">
          <a:xfrm>
            <a:off x="25409612" y="4037157"/>
            <a:ext cx="0" cy="838200"/>
          </a:xfrm>
          <a:prstGeom prst="line">
            <a:avLst/>
          </a:prstGeom>
          <a:solidFill>
            <a:schemeClr val="accent1"/>
          </a:solidFill>
          <a:ln w="3175" cap="flat" cmpd="sng" algn="ctr">
            <a:solidFill>
              <a:schemeClr val="tx1"/>
            </a:solidFill>
            <a:prstDash val="solid"/>
            <a:round/>
            <a:headEnd type="none" w="med" len="med"/>
            <a:tailEnd type="none" w="med" len="med"/>
          </a:ln>
          <a:effectLst/>
        </p:spPr>
      </p:cxnSp>
      <p:pic>
        <p:nvPicPr>
          <p:cNvPr id="23" name="Picture 22">
            <a:extLst>
              <a:ext uri="{FF2B5EF4-FFF2-40B4-BE49-F238E27FC236}">
                <a16:creationId xmlns:a16="http://schemas.microsoft.com/office/drawing/2014/main" id="{FF82C139-E1EA-44E8-D53F-4324CB46A7EB}"/>
              </a:ext>
            </a:extLst>
          </p:cNvPr>
          <p:cNvPicPr>
            <a:picLocks noChangeAspect="1"/>
          </p:cNvPicPr>
          <p:nvPr/>
        </p:nvPicPr>
        <p:blipFill>
          <a:blip r:embed="rId5"/>
          <a:stretch>
            <a:fillRect/>
          </a:stretch>
        </p:blipFill>
        <p:spPr>
          <a:xfrm>
            <a:off x="784698" y="19226931"/>
            <a:ext cx="10688106" cy="5235434"/>
          </a:xfrm>
          <a:prstGeom prst="rect">
            <a:avLst/>
          </a:prstGeom>
        </p:spPr>
      </p:pic>
      <p:pic>
        <p:nvPicPr>
          <p:cNvPr id="28" name="Picture 27">
            <a:extLst>
              <a:ext uri="{FF2B5EF4-FFF2-40B4-BE49-F238E27FC236}">
                <a16:creationId xmlns:a16="http://schemas.microsoft.com/office/drawing/2014/main" id="{85C1D181-6D0E-6CD1-FC46-7840D667ADD4}"/>
              </a:ext>
            </a:extLst>
          </p:cNvPr>
          <p:cNvPicPr>
            <a:picLocks noChangeAspect="1"/>
          </p:cNvPicPr>
          <p:nvPr/>
        </p:nvPicPr>
        <p:blipFill>
          <a:blip r:embed="rId6"/>
          <a:stretch>
            <a:fillRect/>
          </a:stretch>
        </p:blipFill>
        <p:spPr>
          <a:xfrm>
            <a:off x="777893" y="14998564"/>
            <a:ext cx="5740989" cy="4357263"/>
          </a:xfrm>
          <a:prstGeom prst="rect">
            <a:avLst/>
          </a:prstGeom>
        </p:spPr>
      </p:pic>
      <p:sp>
        <p:nvSpPr>
          <p:cNvPr id="29" name="TextBox 28">
            <a:extLst>
              <a:ext uri="{FF2B5EF4-FFF2-40B4-BE49-F238E27FC236}">
                <a16:creationId xmlns:a16="http://schemas.microsoft.com/office/drawing/2014/main" id="{A2321CA7-E7AD-861E-ED72-336924085481}"/>
              </a:ext>
            </a:extLst>
          </p:cNvPr>
          <p:cNvSpPr txBox="1"/>
          <p:nvPr/>
        </p:nvSpPr>
        <p:spPr>
          <a:xfrm>
            <a:off x="8005115" y="14998564"/>
            <a:ext cx="5486400" cy="2323713"/>
          </a:xfrm>
          <a:prstGeom prst="rect">
            <a:avLst/>
          </a:prstGeom>
          <a:noFill/>
        </p:spPr>
        <p:txBody>
          <a:bodyPr wrap="square" rtlCol="0">
            <a:spAutoFit/>
          </a:bodyPr>
          <a:lstStyle/>
          <a:p>
            <a:pPr algn="l"/>
            <a:r>
              <a:rPr lang="en-US" sz="3000" dirty="0">
                <a:latin typeface="Candara" panose="020E0502030303020204" pitchFamily="34" charset="0"/>
                <a:cs typeface="Times New Roman" panose="02020603050405020304" pitchFamily="18" charset="0"/>
              </a:rPr>
              <a:t>Stokes </a:t>
            </a:r>
            <a:r>
              <a:rPr lang="en-US" sz="3000" dirty="0">
                <a:latin typeface="Candara" panose="020E0502030303020204" pitchFamily="34" charset="0"/>
                <a:cs typeface="Times New Roman" panose="02020603050405020304" pitchFamily="18" charset="0"/>
                <a:sym typeface="Wingdings" pitchFamily="2" charset="2"/>
              </a:rPr>
              <a:t> 20 Compute Nodes</a:t>
            </a:r>
          </a:p>
          <a:p>
            <a:pPr algn="l"/>
            <a:r>
              <a:rPr lang="en-US" sz="3000" dirty="0">
                <a:latin typeface="Candara" panose="020E0502030303020204" pitchFamily="34" charset="0"/>
                <a:cs typeface="Times New Roman" panose="02020603050405020304" pitchFamily="18" charset="0"/>
                <a:sym typeface="Wingdings" pitchFamily="2" charset="2"/>
              </a:rPr>
              <a:t>Newton  10 Compute Nodes</a:t>
            </a:r>
          </a:p>
          <a:p>
            <a:pPr algn="l"/>
            <a:r>
              <a:rPr lang="en-US" sz="3000" dirty="0">
                <a:latin typeface="Candara" panose="020E0502030303020204" pitchFamily="34" charset="0"/>
                <a:cs typeface="Times New Roman" panose="02020603050405020304" pitchFamily="18" charset="0"/>
                <a:sym typeface="Wingdings" pitchFamily="2" charset="2"/>
              </a:rPr>
              <a:t>Desktop  1 Compute Node</a:t>
            </a:r>
          </a:p>
          <a:p>
            <a:pPr algn="l"/>
            <a:r>
              <a:rPr lang="en-US" sz="3000" dirty="0">
                <a:latin typeface="Candara" panose="020E0502030303020204" pitchFamily="34" charset="0"/>
                <a:cs typeface="Times New Roman" panose="02020603050405020304" pitchFamily="18" charset="0"/>
                <a:sym typeface="Wingdings" pitchFamily="2" charset="2"/>
              </a:rPr>
              <a:t>Laptop  1 Compute Node</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C54E91C4-776B-CB45-841E-AED0B39AA1BD}"/>
              </a:ext>
            </a:extLst>
          </p:cNvPr>
          <p:cNvSpPr/>
          <p:nvPr/>
        </p:nvSpPr>
        <p:spPr>
          <a:xfrm>
            <a:off x="8017023" y="15056089"/>
            <a:ext cx="5017292" cy="1796862"/>
          </a:xfrm>
          <a:custGeom>
            <a:avLst/>
            <a:gdLst>
              <a:gd name="connsiteX0" fmla="*/ 0 w 5017292"/>
              <a:gd name="connsiteY0" fmla="*/ 0 h 1796862"/>
              <a:gd name="connsiteX1" fmla="*/ 507304 w 5017292"/>
              <a:gd name="connsiteY1" fmla="*/ 0 h 1796862"/>
              <a:gd name="connsiteX2" fmla="*/ 914262 w 5017292"/>
              <a:gd name="connsiteY2" fmla="*/ 0 h 1796862"/>
              <a:gd name="connsiteX3" fmla="*/ 1572085 w 5017292"/>
              <a:gd name="connsiteY3" fmla="*/ 0 h 1796862"/>
              <a:gd name="connsiteX4" fmla="*/ 2079389 w 5017292"/>
              <a:gd name="connsiteY4" fmla="*/ 0 h 1796862"/>
              <a:gd name="connsiteX5" fmla="*/ 2586693 w 5017292"/>
              <a:gd name="connsiteY5" fmla="*/ 0 h 1796862"/>
              <a:gd name="connsiteX6" fmla="*/ 3244515 w 5017292"/>
              <a:gd name="connsiteY6" fmla="*/ 0 h 1796862"/>
              <a:gd name="connsiteX7" fmla="*/ 3701647 w 5017292"/>
              <a:gd name="connsiteY7" fmla="*/ 0 h 1796862"/>
              <a:gd name="connsiteX8" fmla="*/ 4359469 w 5017292"/>
              <a:gd name="connsiteY8" fmla="*/ 0 h 1796862"/>
              <a:gd name="connsiteX9" fmla="*/ 5017292 w 5017292"/>
              <a:gd name="connsiteY9" fmla="*/ 0 h 1796862"/>
              <a:gd name="connsiteX10" fmla="*/ 5017292 w 5017292"/>
              <a:gd name="connsiteY10" fmla="*/ 598954 h 1796862"/>
              <a:gd name="connsiteX11" fmla="*/ 5017292 w 5017292"/>
              <a:gd name="connsiteY11" fmla="*/ 1197908 h 1796862"/>
              <a:gd name="connsiteX12" fmla="*/ 5017292 w 5017292"/>
              <a:gd name="connsiteY12" fmla="*/ 1796862 h 1796862"/>
              <a:gd name="connsiteX13" fmla="*/ 4610334 w 5017292"/>
              <a:gd name="connsiteY13" fmla="*/ 1796862 h 1796862"/>
              <a:gd name="connsiteX14" fmla="*/ 3952511 w 5017292"/>
              <a:gd name="connsiteY14" fmla="*/ 1796862 h 1796862"/>
              <a:gd name="connsiteX15" fmla="*/ 3495380 w 5017292"/>
              <a:gd name="connsiteY15" fmla="*/ 1796862 h 1796862"/>
              <a:gd name="connsiteX16" fmla="*/ 2937903 w 5017292"/>
              <a:gd name="connsiteY16" fmla="*/ 1796862 h 1796862"/>
              <a:gd name="connsiteX17" fmla="*/ 2280080 w 5017292"/>
              <a:gd name="connsiteY17" fmla="*/ 1796862 h 1796862"/>
              <a:gd name="connsiteX18" fmla="*/ 1722604 w 5017292"/>
              <a:gd name="connsiteY18" fmla="*/ 1796862 h 1796862"/>
              <a:gd name="connsiteX19" fmla="*/ 1315645 w 5017292"/>
              <a:gd name="connsiteY19" fmla="*/ 1796862 h 1796862"/>
              <a:gd name="connsiteX20" fmla="*/ 858514 w 5017292"/>
              <a:gd name="connsiteY20" fmla="*/ 1796862 h 1796862"/>
              <a:gd name="connsiteX21" fmla="*/ 0 w 5017292"/>
              <a:gd name="connsiteY21" fmla="*/ 1796862 h 1796862"/>
              <a:gd name="connsiteX22" fmla="*/ 0 w 5017292"/>
              <a:gd name="connsiteY22" fmla="*/ 1197908 h 1796862"/>
              <a:gd name="connsiteX23" fmla="*/ 0 w 5017292"/>
              <a:gd name="connsiteY23" fmla="*/ 598954 h 1796862"/>
              <a:gd name="connsiteX24" fmla="*/ 0 w 5017292"/>
              <a:gd name="connsiteY24" fmla="*/ 0 h 179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7292" h="1796862" extrusionOk="0">
                <a:moveTo>
                  <a:pt x="0" y="0"/>
                </a:moveTo>
                <a:cubicBezTo>
                  <a:pt x="178450" y="-3142"/>
                  <a:pt x="340001" y="57548"/>
                  <a:pt x="507304" y="0"/>
                </a:cubicBezTo>
                <a:cubicBezTo>
                  <a:pt x="674607" y="-57548"/>
                  <a:pt x="782743" y="43084"/>
                  <a:pt x="914262" y="0"/>
                </a:cubicBezTo>
                <a:cubicBezTo>
                  <a:pt x="1045781" y="-43084"/>
                  <a:pt x="1328261" y="41170"/>
                  <a:pt x="1572085" y="0"/>
                </a:cubicBezTo>
                <a:cubicBezTo>
                  <a:pt x="1815909" y="-41170"/>
                  <a:pt x="1879715" y="36429"/>
                  <a:pt x="2079389" y="0"/>
                </a:cubicBezTo>
                <a:cubicBezTo>
                  <a:pt x="2279063" y="-36429"/>
                  <a:pt x="2348707" y="20313"/>
                  <a:pt x="2586693" y="0"/>
                </a:cubicBezTo>
                <a:cubicBezTo>
                  <a:pt x="2824679" y="-20313"/>
                  <a:pt x="3052354" y="36788"/>
                  <a:pt x="3244515" y="0"/>
                </a:cubicBezTo>
                <a:cubicBezTo>
                  <a:pt x="3436676" y="-36788"/>
                  <a:pt x="3530169" y="28792"/>
                  <a:pt x="3701647" y="0"/>
                </a:cubicBezTo>
                <a:cubicBezTo>
                  <a:pt x="3873125" y="-28792"/>
                  <a:pt x="4099896" y="19193"/>
                  <a:pt x="4359469" y="0"/>
                </a:cubicBezTo>
                <a:cubicBezTo>
                  <a:pt x="4619042" y="-19193"/>
                  <a:pt x="4712824" y="65885"/>
                  <a:pt x="5017292" y="0"/>
                </a:cubicBezTo>
                <a:cubicBezTo>
                  <a:pt x="5057508" y="151651"/>
                  <a:pt x="5012157" y="434010"/>
                  <a:pt x="5017292" y="598954"/>
                </a:cubicBezTo>
                <a:cubicBezTo>
                  <a:pt x="5022427" y="763898"/>
                  <a:pt x="5008719" y="927459"/>
                  <a:pt x="5017292" y="1197908"/>
                </a:cubicBezTo>
                <a:cubicBezTo>
                  <a:pt x="5025865" y="1468357"/>
                  <a:pt x="4957962" y="1632532"/>
                  <a:pt x="5017292" y="1796862"/>
                </a:cubicBezTo>
                <a:cubicBezTo>
                  <a:pt x="4917562" y="1818309"/>
                  <a:pt x="4716108" y="1781350"/>
                  <a:pt x="4610334" y="1796862"/>
                </a:cubicBezTo>
                <a:cubicBezTo>
                  <a:pt x="4504560" y="1812374"/>
                  <a:pt x="4161911" y="1738994"/>
                  <a:pt x="3952511" y="1796862"/>
                </a:cubicBezTo>
                <a:cubicBezTo>
                  <a:pt x="3743111" y="1854730"/>
                  <a:pt x="3649585" y="1761778"/>
                  <a:pt x="3495380" y="1796862"/>
                </a:cubicBezTo>
                <a:cubicBezTo>
                  <a:pt x="3341175" y="1831946"/>
                  <a:pt x="3175029" y="1766961"/>
                  <a:pt x="2937903" y="1796862"/>
                </a:cubicBezTo>
                <a:cubicBezTo>
                  <a:pt x="2700777" y="1826763"/>
                  <a:pt x="2416931" y="1733899"/>
                  <a:pt x="2280080" y="1796862"/>
                </a:cubicBezTo>
                <a:cubicBezTo>
                  <a:pt x="2143229" y="1859825"/>
                  <a:pt x="1840522" y="1775393"/>
                  <a:pt x="1722604" y="1796862"/>
                </a:cubicBezTo>
                <a:cubicBezTo>
                  <a:pt x="1604686" y="1818331"/>
                  <a:pt x="1416789" y="1749648"/>
                  <a:pt x="1315645" y="1796862"/>
                </a:cubicBezTo>
                <a:cubicBezTo>
                  <a:pt x="1214501" y="1844076"/>
                  <a:pt x="970776" y="1764253"/>
                  <a:pt x="858514" y="1796862"/>
                </a:cubicBezTo>
                <a:cubicBezTo>
                  <a:pt x="746252" y="1829471"/>
                  <a:pt x="333867" y="1702667"/>
                  <a:pt x="0" y="1796862"/>
                </a:cubicBezTo>
                <a:cubicBezTo>
                  <a:pt x="-65608" y="1668118"/>
                  <a:pt x="14213" y="1445391"/>
                  <a:pt x="0" y="1197908"/>
                </a:cubicBezTo>
                <a:cubicBezTo>
                  <a:pt x="-14213" y="950425"/>
                  <a:pt x="13044" y="865687"/>
                  <a:pt x="0" y="598954"/>
                </a:cubicBezTo>
                <a:cubicBezTo>
                  <a:pt x="-13044" y="332221"/>
                  <a:pt x="11691" y="193407"/>
                  <a:pt x="0" y="0"/>
                </a:cubicBezTo>
                <a:close/>
              </a:path>
            </a:pathLst>
          </a:custGeom>
          <a:no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3A354A1C-D865-A693-B789-CCACDD9879FC}"/>
              </a:ext>
            </a:extLst>
          </p:cNvPr>
          <p:cNvSpPr txBox="1"/>
          <p:nvPr/>
        </p:nvSpPr>
        <p:spPr>
          <a:xfrm>
            <a:off x="7171581" y="17289249"/>
            <a:ext cx="7098243" cy="1477328"/>
          </a:xfrm>
          <a:prstGeom prst="rect">
            <a:avLst/>
          </a:prstGeom>
          <a:noFill/>
        </p:spPr>
        <p:txBody>
          <a:bodyPr wrap="square" rtlCol="0">
            <a:spAutoFit/>
          </a:bodyPr>
          <a:lstStyle/>
          <a:p>
            <a:pPr algn="just"/>
            <a:r>
              <a:rPr lang="en-US" sz="3000" dirty="0">
                <a:latin typeface="Candara" panose="020E0502030303020204" pitchFamily="34" charset="0"/>
                <a:cs typeface="Times New Roman" panose="02020603050405020304" pitchFamily="18" charset="0"/>
              </a:rPr>
              <a:t>We want to run the same code/software across different research configurations by utilizing all available compute nodes</a:t>
            </a:r>
          </a:p>
        </p:txBody>
      </p:sp>
      <p:sp>
        <p:nvSpPr>
          <p:cNvPr id="32" name="Rectangle 31">
            <a:extLst>
              <a:ext uri="{FF2B5EF4-FFF2-40B4-BE49-F238E27FC236}">
                <a16:creationId xmlns:a16="http://schemas.microsoft.com/office/drawing/2014/main" id="{1E958857-D63D-4949-3D3E-C53C09F44304}"/>
              </a:ext>
            </a:extLst>
          </p:cNvPr>
          <p:cNvSpPr/>
          <p:nvPr/>
        </p:nvSpPr>
        <p:spPr>
          <a:xfrm>
            <a:off x="7124274" y="17244802"/>
            <a:ext cx="7102413" cy="1540916"/>
          </a:xfrm>
          <a:custGeom>
            <a:avLst/>
            <a:gdLst>
              <a:gd name="connsiteX0" fmla="*/ 0 w 7102413"/>
              <a:gd name="connsiteY0" fmla="*/ 0 h 1540916"/>
              <a:gd name="connsiteX1" fmla="*/ 520844 w 7102413"/>
              <a:gd name="connsiteY1" fmla="*/ 0 h 1540916"/>
              <a:gd name="connsiteX2" fmla="*/ 899639 w 7102413"/>
              <a:gd name="connsiteY2" fmla="*/ 0 h 1540916"/>
              <a:gd name="connsiteX3" fmla="*/ 1633555 w 7102413"/>
              <a:gd name="connsiteY3" fmla="*/ 0 h 1540916"/>
              <a:gd name="connsiteX4" fmla="*/ 2154399 w 7102413"/>
              <a:gd name="connsiteY4" fmla="*/ 0 h 1540916"/>
              <a:gd name="connsiteX5" fmla="*/ 2675242 w 7102413"/>
              <a:gd name="connsiteY5" fmla="*/ 0 h 1540916"/>
              <a:gd name="connsiteX6" fmla="*/ 3409158 w 7102413"/>
              <a:gd name="connsiteY6" fmla="*/ 0 h 1540916"/>
              <a:gd name="connsiteX7" fmla="*/ 3858978 w 7102413"/>
              <a:gd name="connsiteY7" fmla="*/ 0 h 1540916"/>
              <a:gd name="connsiteX8" fmla="*/ 4592894 w 7102413"/>
              <a:gd name="connsiteY8" fmla="*/ 0 h 1540916"/>
              <a:gd name="connsiteX9" fmla="*/ 5326810 w 7102413"/>
              <a:gd name="connsiteY9" fmla="*/ 0 h 1540916"/>
              <a:gd name="connsiteX10" fmla="*/ 5918678 w 7102413"/>
              <a:gd name="connsiteY10" fmla="*/ 0 h 1540916"/>
              <a:gd name="connsiteX11" fmla="*/ 7102413 w 7102413"/>
              <a:gd name="connsiteY11" fmla="*/ 0 h 1540916"/>
              <a:gd name="connsiteX12" fmla="*/ 7102413 w 7102413"/>
              <a:gd name="connsiteY12" fmla="*/ 498230 h 1540916"/>
              <a:gd name="connsiteX13" fmla="*/ 7102413 w 7102413"/>
              <a:gd name="connsiteY13" fmla="*/ 965641 h 1540916"/>
              <a:gd name="connsiteX14" fmla="*/ 7102413 w 7102413"/>
              <a:gd name="connsiteY14" fmla="*/ 1540916 h 1540916"/>
              <a:gd name="connsiteX15" fmla="*/ 6510545 w 7102413"/>
              <a:gd name="connsiteY15" fmla="*/ 1540916 h 1540916"/>
              <a:gd name="connsiteX16" fmla="*/ 5918678 w 7102413"/>
              <a:gd name="connsiteY16" fmla="*/ 1540916 h 1540916"/>
              <a:gd name="connsiteX17" fmla="*/ 5184761 w 7102413"/>
              <a:gd name="connsiteY17" fmla="*/ 1540916 h 1540916"/>
              <a:gd name="connsiteX18" fmla="*/ 4592894 w 7102413"/>
              <a:gd name="connsiteY18" fmla="*/ 1540916 h 1540916"/>
              <a:gd name="connsiteX19" fmla="*/ 4214098 w 7102413"/>
              <a:gd name="connsiteY19" fmla="*/ 1540916 h 1540916"/>
              <a:gd name="connsiteX20" fmla="*/ 3764279 w 7102413"/>
              <a:gd name="connsiteY20" fmla="*/ 1540916 h 1540916"/>
              <a:gd name="connsiteX21" fmla="*/ 3030363 w 7102413"/>
              <a:gd name="connsiteY21" fmla="*/ 1540916 h 1540916"/>
              <a:gd name="connsiteX22" fmla="*/ 2438495 w 7102413"/>
              <a:gd name="connsiteY22" fmla="*/ 1540916 h 1540916"/>
              <a:gd name="connsiteX23" fmla="*/ 1988676 w 7102413"/>
              <a:gd name="connsiteY23" fmla="*/ 1540916 h 1540916"/>
              <a:gd name="connsiteX24" fmla="*/ 1396808 w 7102413"/>
              <a:gd name="connsiteY24" fmla="*/ 1540916 h 1540916"/>
              <a:gd name="connsiteX25" fmla="*/ 1018013 w 7102413"/>
              <a:gd name="connsiteY25" fmla="*/ 1540916 h 1540916"/>
              <a:gd name="connsiteX26" fmla="*/ 639217 w 7102413"/>
              <a:gd name="connsiteY26" fmla="*/ 1540916 h 1540916"/>
              <a:gd name="connsiteX27" fmla="*/ 0 w 7102413"/>
              <a:gd name="connsiteY27" fmla="*/ 1540916 h 1540916"/>
              <a:gd name="connsiteX28" fmla="*/ 0 w 7102413"/>
              <a:gd name="connsiteY28" fmla="*/ 1058096 h 1540916"/>
              <a:gd name="connsiteX29" fmla="*/ 0 w 7102413"/>
              <a:gd name="connsiteY29" fmla="*/ 513639 h 1540916"/>
              <a:gd name="connsiteX30" fmla="*/ 0 w 7102413"/>
              <a:gd name="connsiteY30" fmla="*/ 0 h 15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102413" h="1540916" extrusionOk="0">
                <a:moveTo>
                  <a:pt x="0" y="0"/>
                </a:moveTo>
                <a:cubicBezTo>
                  <a:pt x="163027" y="-36100"/>
                  <a:pt x="281685" y="6391"/>
                  <a:pt x="520844" y="0"/>
                </a:cubicBezTo>
                <a:cubicBezTo>
                  <a:pt x="760003" y="-6391"/>
                  <a:pt x="803628" y="10416"/>
                  <a:pt x="899639" y="0"/>
                </a:cubicBezTo>
                <a:cubicBezTo>
                  <a:pt x="995651" y="-10416"/>
                  <a:pt x="1319835" y="41145"/>
                  <a:pt x="1633555" y="0"/>
                </a:cubicBezTo>
                <a:cubicBezTo>
                  <a:pt x="1947275" y="-41145"/>
                  <a:pt x="1913388" y="2094"/>
                  <a:pt x="2154399" y="0"/>
                </a:cubicBezTo>
                <a:cubicBezTo>
                  <a:pt x="2395410" y="-2094"/>
                  <a:pt x="2516850" y="42807"/>
                  <a:pt x="2675242" y="0"/>
                </a:cubicBezTo>
                <a:cubicBezTo>
                  <a:pt x="2833634" y="-42807"/>
                  <a:pt x="3098783" y="22980"/>
                  <a:pt x="3409158" y="0"/>
                </a:cubicBezTo>
                <a:cubicBezTo>
                  <a:pt x="3719533" y="-22980"/>
                  <a:pt x="3740557" y="826"/>
                  <a:pt x="3858978" y="0"/>
                </a:cubicBezTo>
                <a:cubicBezTo>
                  <a:pt x="3977399" y="-826"/>
                  <a:pt x="4278432" y="24655"/>
                  <a:pt x="4592894" y="0"/>
                </a:cubicBezTo>
                <a:cubicBezTo>
                  <a:pt x="4907356" y="-24655"/>
                  <a:pt x="5175168" y="40601"/>
                  <a:pt x="5326810" y="0"/>
                </a:cubicBezTo>
                <a:cubicBezTo>
                  <a:pt x="5478452" y="-40601"/>
                  <a:pt x="5656760" y="6203"/>
                  <a:pt x="5918678" y="0"/>
                </a:cubicBezTo>
                <a:cubicBezTo>
                  <a:pt x="6180596" y="-6203"/>
                  <a:pt x="6639661" y="76610"/>
                  <a:pt x="7102413" y="0"/>
                </a:cubicBezTo>
                <a:cubicBezTo>
                  <a:pt x="7158739" y="247887"/>
                  <a:pt x="7068941" y="333879"/>
                  <a:pt x="7102413" y="498230"/>
                </a:cubicBezTo>
                <a:cubicBezTo>
                  <a:pt x="7135885" y="662581"/>
                  <a:pt x="7062781" y="738543"/>
                  <a:pt x="7102413" y="965641"/>
                </a:cubicBezTo>
                <a:cubicBezTo>
                  <a:pt x="7142045" y="1192739"/>
                  <a:pt x="7075753" y="1261533"/>
                  <a:pt x="7102413" y="1540916"/>
                </a:cubicBezTo>
                <a:cubicBezTo>
                  <a:pt x="6937889" y="1601541"/>
                  <a:pt x="6753452" y="1512342"/>
                  <a:pt x="6510545" y="1540916"/>
                </a:cubicBezTo>
                <a:cubicBezTo>
                  <a:pt x="6267638" y="1569490"/>
                  <a:pt x="6204364" y="1515491"/>
                  <a:pt x="5918678" y="1540916"/>
                </a:cubicBezTo>
                <a:cubicBezTo>
                  <a:pt x="5632992" y="1566341"/>
                  <a:pt x="5506698" y="1505635"/>
                  <a:pt x="5184761" y="1540916"/>
                </a:cubicBezTo>
                <a:cubicBezTo>
                  <a:pt x="4862824" y="1576197"/>
                  <a:pt x="4831464" y="1535865"/>
                  <a:pt x="4592894" y="1540916"/>
                </a:cubicBezTo>
                <a:cubicBezTo>
                  <a:pt x="4354324" y="1545967"/>
                  <a:pt x="4304309" y="1536749"/>
                  <a:pt x="4214098" y="1540916"/>
                </a:cubicBezTo>
                <a:cubicBezTo>
                  <a:pt x="4123887" y="1545083"/>
                  <a:pt x="3862697" y="1496306"/>
                  <a:pt x="3764279" y="1540916"/>
                </a:cubicBezTo>
                <a:cubicBezTo>
                  <a:pt x="3665861" y="1585526"/>
                  <a:pt x="3309053" y="1523374"/>
                  <a:pt x="3030363" y="1540916"/>
                </a:cubicBezTo>
                <a:cubicBezTo>
                  <a:pt x="2751673" y="1558458"/>
                  <a:pt x="2601973" y="1530671"/>
                  <a:pt x="2438495" y="1540916"/>
                </a:cubicBezTo>
                <a:cubicBezTo>
                  <a:pt x="2275017" y="1551161"/>
                  <a:pt x="2177879" y="1499418"/>
                  <a:pt x="1988676" y="1540916"/>
                </a:cubicBezTo>
                <a:cubicBezTo>
                  <a:pt x="1799473" y="1582414"/>
                  <a:pt x="1555825" y="1525068"/>
                  <a:pt x="1396808" y="1540916"/>
                </a:cubicBezTo>
                <a:cubicBezTo>
                  <a:pt x="1237791" y="1556764"/>
                  <a:pt x="1094553" y="1508519"/>
                  <a:pt x="1018013" y="1540916"/>
                </a:cubicBezTo>
                <a:cubicBezTo>
                  <a:pt x="941473" y="1573313"/>
                  <a:pt x="769448" y="1506086"/>
                  <a:pt x="639217" y="1540916"/>
                </a:cubicBezTo>
                <a:cubicBezTo>
                  <a:pt x="508986" y="1575746"/>
                  <a:pt x="210224" y="1530186"/>
                  <a:pt x="0" y="1540916"/>
                </a:cubicBezTo>
                <a:cubicBezTo>
                  <a:pt x="-55698" y="1356349"/>
                  <a:pt x="19022" y="1193948"/>
                  <a:pt x="0" y="1058096"/>
                </a:cubicBezTo>
                <a:cubicBezTo>
                  <a:pt x="-19022" y="922244"/>
                  <a:pt x="56237" y="706916"/>
                  <a:pt x="0" y="513639"/>
                </a:cubicBezTo>
                <a:cubicBezTo>
                  <a:pt x="-56237" y="320362"/>
                  <a:pt x="46724" y="119684"/>
                  <a:pt x="0" y="0"/>
                </a:cubicBezTo>
                <a:close/>
              </a:path>
            </a:pathLst>
          </a:custGeom>
          <a:no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pic>
        <p:nvPicPr>
          <p:cNvPr id="33" name="Picture 32">
            <a:extLst>
              <a:ext uri="{FF2B5EF4-FFF2-40B4-BE49-F238E27FC236}">
                <a16:creationId xmlns:a16="http://schemas.microsoft.com/office/drawing/2014/main" id="{45634DE1-EBDD-4312-5BE6-B3357D3B8478}"/>
              </a:ext>
            </a:extLst>
          </p:cNvPr>
          <p:cNvPicPr>
            <a:picLocks noChangeAspect="1"/>
          </p:cNvPicPr>
          <p:nvPr/>
        </p:nvPicPr>
        <p:blipFill>
          <a:blip r:embed="rId7"/>
          <a:stretch>
            <a:fillRect/>
          </a:stretch>
        </p:blipFill>
        <p:spPr>
          <a:xfrm>
            <a:off x="1400716" y="25639366"/>
            <a:ext cx="12230786" cy="6102732"/>
          </a:xfrm>
          <a:prstGeom prst="rect">
            <a:avLst/>
          </a:prstGeom>
        </p:spPr>
      </p:pic>
      <p:sp>
        <p:nvSpPr>
          <p:cNvPr id="34" name="Text Placeholder 19">
            <a:extLst>
              <a:ext uri="{FF2B5EF4-FFF2-40B4-BE49-F238E27FC236}">
                <a16:creationId xmlns:a16="http://schemas.microsoft.com/office/drawing/2014/main" id="{F7BC601E-F7F5-2F0A-DCD0-E612A4948ED5}"/>
              </a:ext>
            </a:extLst>
          </p:cNvPr>
          <p:cNvSpPr txBox="1">
            <a:spLocks/>
          </p:cNvSpPr>
          <p:nvPr/>
        </p:nvSpPr>
        <p:spPr>
          <a:xfrm>
            <a:off x="15201728" y="6152802"/>
            <a:ext cx="13799705" cy="369329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000" b="1" dirty="0">
                <a:solidFill>
                  <a:schemeClr val="tx1"/>
                </a:solidFill>
                <a:latin typeface="Candara" panose="020E0502030303020204" pitchFamily="34" charset="0"/>
              </a:rPr>
              <a:t>Flexible Resources:</a:t>
            </a:r>
            <a:r>
              <a:rPr lang="en-US" sz="3000" dirty="0">
                <a:solidFill>
                  <a:schemeClr val="tx1"/>
                </a:solidFill>
                <a:latin typeface="Candara" panose="020E0502030303020204" pitchFamily="34" charset="0"/>
              </a:rPr>
              <a:t> Add or remove worker machines anytime during workflow.</a:t>
            </a:r>
          </a:p>
          <a:p>
            <a:r>
              <a:rPr lang="en-US" sz="3000" b="1" dirty="0">
                <a:solidFill>
                  <a:schemeClr val="tx1"/>
                </a:solidFill>
                <a:latin typeface="Candara" panose="020E0502030303020204" pitchFamily="34" charset="0"/>
              </a:rPr>
              <a:t>On-Demand Scheduling:</a:t>
            </a:r>
            <a:r>
              <a:rPr lang="en-US" sz="3000" dirty="0">
                <a:solidFill>
                  <a:schemeClr val="tx1"/>
                </a:solidFill>
                <a:latin typeface="Candara" panose="020E0502030303020204" pitchFamily="34" charset="0"/>
              </a:rPr>
              <a:t> Jobs assigned when requested, not pre-allocated.</a:t>
            </a:r>
          </a:p>
          <a:p>
            <a:r>
              <a:rPr lang="en-US" sz="3000" b="1" dirty="0">
                <a:solidFill>
                  <a:schemeClr val="tx1"/>
                </a:solidFill>
                <a:latin typeface="Candara" panose="020E0502030303020204" pitchFamily="34" charset="0"/>
              </a:rPr>
              <a:t>Load-Aware Distribution:</a:t>
            </a:r>
            <a:r>
              <a:rPr lang="en-US" sz="3000" dirty="0">
                <a:solidFill>
                  <a:schemeClr val="tx1"/>
                </a:solidFill>
                <a:latin typeface="Candara" panose="020E0502030303020204" pitchFamily="34" charset="0"/>
              </a:rPr>
              <a:t> Fast machines handle more, slow ones handle fewer.</a:t>
            </a:r>
          </a:p>
          <a:p>
            <a:r>
              <a:rPr lang="en-US" sz="3000" b="1" dirty="0">
                <a:solidFill>
                  <a:schemeClr val="tx1"/>
                </a:solidFill>
                <a:latin typeface="Candara" panose="020E0502030303020204" pitchFamily="34" charset="0"/>
              </a:rPr>
              <a:t>Failure Resilience:</a:t>
            </a:r>
            <a:r>
              <a:rPr lang="en-US" sz="3000" dirty="0">
                <a:solidFill>
                  <a:schemeClr val="tx1"/>
                </a:solidFill>
                <a:latin typeface="Candara" panose="020E0502030303020204" pitchFamily="34" charset="0"/>
              </a:rPr>
              <a:t> Detects failed machines and reassigns jobs to healthy nodes.</a:t>
            </a:r>
          </a:p>
          <a:p>
            <a:r>
              <a:rPr lang="en-US" sz="3000" b="1" dirty="0">
                <a:solidFill>
                  <a:schemeClr val="tx1"/>
                </a:solidFill>
                <a:latin typeface="Candara" panose="020E0502030303020204" pitchFamily="34" charset="0"/>
              </a:rPr>
              <a:t>Reduced Tail Latency:</a:t>
            </a:r>
            <a:r>
              <a:rPr lang="en-US" sz="3000" dirty="0">
                <a:solidFill>
                  <a:schemeClr val="tx1"/>
                </a:solidFill>
                <a:latin typeface="Candara" panose="020E0502030303020204" pitchFamily="34" charset="0"/>
              </a:rPr>
              <a:t> Minimizes straggler effect → faster experiment completion.</a:t>
            </a:r>
          </a:p>
          <a:p>
            <a:r>
              <a:rPr lang="en-US" sz="3000" b="1" dirty="0">
                <a:solidFill>
                  <a:schemeClr val="tx1"/>
                </a:solidFill>
                <a:latin typeface="Candara" panose="020E0502030303020204" pitchFamily="34" charset="0"/>
              </a:rPr>
              <a:t>Heterogeneous Friendly:</a:t>
            </a:r>
            <a:r>
              <a:rPr lang="en-US" sz="3000" dirty="0">
                <a:solidFill>
                  <a:schemeClr val="tx1"/>
                </a:solidFill>
                <a:latin typeface="Candara" panose="020E0502030303020204" pitchFamily="34" charset="0"/>
              </a:rPr>
              <a:t> Efficiently utilizes mixed compute environments.</a:t>
            </a:r>
          </a:p>
        </p:txBody>
      </p:sp>
      <p:pic>
        <p:nvPicPr>
          <p:cNvPr id="35" name="Picture 34">
            <a:extLst>
              <a:ext uri="{FF2B5EF4-FFF2-40B4-BE49-F238E27FC236}">
                <a16:creationId xmlns:a16="http://schemas.microsoft.com/office/drawing/2014/main" id="{1765A9E3-630A-4EC4-89DF-F54DFF2AA4E3}"/>
              </a:ext>
            </a:extLst>
          </p:cNvPr>
          <p:cNvPicPr>
            <a:picLocks noChangeAspect="1"/>
          </p:cNvPicPr>
          <p:nvPr/>
        </p:nvPicPr>
        <p:blipFill>
          <a:blip r:embed="rId8"/>
          <a:stretch>
            <a:fillRect/>
          </a:stretch>
        </p:blipFill>
        <p:spPr>
          <a:xfrm>
            <a:off x="15677712" y="10757809"/>
            <a:ext cx="12806100" cy="11182791"/>
          </a:xfrm>
          <a:prstGeom prst="rect">
            <a:avLst/>
          </a:prstGeom>
        </p:spPr>
      </p:pic>
      <p:sp>
        <p:nvSpPr>
          <p:cNvPr id="36" name="TextBox 35">
            <a:extLst>
              <a:ext uri="{FF2B5EF4-FFF2-40B4-BE49-F238E27FC236}">
                <a16:creationId xmlns:a16="http://schemas.microsoft.com/office/drawing/2014/main" id="{673CFD7B-5965-CCAF-7E62-F1BE533F5F74}"/>
              </a:ext>
            </a:extLst>
          </p:cNvPr>
          <p:cNvSpPr txBox="1"/>
          <p:nvPr/>
        </p:nvSpPr>
        <p:spPr>
          <a:xfrm>
            <a:off x="15191929" y="21844648"/>
            <a:ext cx="13566697" cy="1938992"/>
          </a:xfrm>
          <a:prstGeom prst="rect">
            <a:avLst/>
          </a:prstGeom>
          <a:noFill/>
        </p:spPr>
        <p:txBody>
          <a:bodyPr wrap="square" rtlCol="0">
            <a:spAutoFit/>
          </a:bodyPr>
          <a:lstStyle/>
          <a:p>
            <a:pPr algn="just"/>
            <a:r>
              <a:rPr lang="en-US" sz="3000" b="1" dirty="0">
                <a:latin typeface="Candara" panose="020E0502030303020204" pitchFamily="34" charset="0"/>
                <a:cs typeface="Times New Roman" panose="02020603050405020304" pitchFamily="18" charset="0"/>
              </a:rPr>
              <a:t>Figure</a:t>
            </a:r>
            <a:r>
              <a:rPr lang="en-US" sz="3000" dirty="0">
                <a:latin typeface="Candara" panose="020E0502030303020204" pitchFamily="34" charset="0"/>
                <a:cs typeface="Times New Roman" panose="02020603050405020304" pitchFamily="18" charset="0"/>
              </a:rPr>
              <a:t>: System architecture and job flow of the DART framework. Flows: (</a:t>
            </a:r>
            <a:r>
              <a:rPr lang="en-US" sz="3000" dirty="0" err="1">
                <a:latin typeface="Candara" panose="020E0502030303020204" pitchFamily="34" charset="0"/>
                <a:cs typeface="Times New Roman" panose="02020603050405020304" pitchFamily="18" charset="0"/>
              </a:rPr>
              <a:t>a.x</a:t>
            </a:r>
            <a:r>
              <a:rPr lang="en-US" sz="3000" dirty="0">
                <a:latin typeface="Candara" panose="020E0502030303020204" pitchFamily="34" charset="0"/>
                <a:cs typeface="Times New Roman" panose="02020603050405020304" pitchFamily="18" charset="0"/>
              </a:rPr>
              <a:t>) is the main job assignment and execution flow throughout the system; (</a:t>
            </a:r>
            <a:r>
              <a:rPr lang="en-US" sz="3000" dirty="0" err="1">
                <a:latin typeface="Candara" panose="020E0502030303020204" pitchFamily="34" charset="0"/>
                <a:cs typeface="Times New Roman" panose="02020603050405020304" pitchFamily="18" charset="0"/>
              </a:rPr>
              <a:t>b.x</a:t>
            </a:r>
            <a:r>
              <a:rPr lang="en-US" sz="3000" dirty="0">
                <a:latin typeface="Candara" panose="020E0502030303020204" pitchFamily="34" charset="0"/>
                <a:cs typeface="Times New Roman" panose="02020603050405020304" pitchFamily="18" charset="0"/>
              </a:rPr>
              <a:t>) is the information flow between database and dashboard; (</a:t>
            </a:r>
            <a:r>
              <a:rPr lang="en-US" sz="3000" dirty="0" err="1">
                <a:latin typeface="Candara" panose="020E0502030303020204" pitchFamily="34" charset="0"/>
                <a:cs typeface="Times New Roman" panose="02020603050405020304" pitchFamily="18" charset="0"/>
              </a:rPr>
              <a:t>c.x</a:t>
            </a:r>
            <a:r>
              <a:rPr lang="en-US" sz="3000" dirty="0">
                <a:latin typeface="Candara" panose="020E0502030303020204" pitchFamily="34" charset="0"/>
                <a:cs typeface="Times New Roman" panose="02020603050405020304" pitchFamily="18" charset="0"/>
              </a:rPr>
              <a:t>) is the handles fault tolerance of system between job cleaner and database.</a:t>
            </a:r>
          </a:p>
        </p:txBody>
      </p:sp>
      <p:sp>
        <p:nvSpPr>
          <p:cNvPr id="37" name="Rounded Rectangle 155">
            <a:extLst>
              <a:ext uri="{FF2B5EF4-FFF2-40B4-BE49-F238E27FC236}">
                <a16:creationId xmlns:a16="http://schemas.microsoft.com/office/drawing/2014/main" id="{72586037-DBE9-6E33-BBA3-5CC1913419E8}"/>
              </a:ext>
            </a:extLst>
          </p:cNvPr>
          <p:cNvSpPr/>
          <p:nvPr/>
        </p:nvSpPr>
        <p:spPr bwMode="auto">
          <a:xfrm>
            <a:off x="15191932" y="23898540"/>
            <a:ext cx="1367172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Job Lifecycle</a:t>
            </a:r>
          </a:p>
        </p:txBody>
      </p:sp>
      <p:pic>
        <p:nvPicPr>
          <p:cNvPr id="38" name="Picture 37">
            <a:extLst>
              <a:ext uri="{FF2B5EF4-FFF2-40B4-BE49-F238E27FC236}">
                <a16:creationId xmlns:a16="http://schemas.microsoft.com/office/drawing/2014/main" id="{BB51F43B-3061-8EF2-BCEA-C6C39B38B679}"/>
              </a:ext>
            </a:extLst>
          </p:cNvPr>
          <p:cNvPicPr>
            <a:picLocks noChangeAspect="1"/>
          </p:cNvPicPr>
          <p:nvPr/>
        </p:nvPicPr>
        <p:blipFill>
          <a:blip r:embed="rId9"/>
          <a:stretch>
            <a:fillRect/>
          </a:stretch>
        </p:blipFill>
        <p:spPr>
          <a:xfrm>
            <a:off x="15191929" y="24788341"/>
            <a:ext cx="13638953" cy="4932606"/>
          </a:xfrm>
          <a:prstGeom prst="rect">
            <a:avLst/>
          </a:prstGeom>
        </p:spPr>
      </p:pic>
      <p:sp>
        <p:nvSpPr>
          <p:cNvPr id="39" name="TextBox 38">
            <a:extLst>
              <a:ext uri="{FF2B5EF4-FFF2-40B4-BE49-F238E27FC236}">
                <a16:creationId xmlns:a16="http://schemas.microsoft.com/office/drawing/2014/main" id="{BEECB194-52BD-12FF-DF2E-62A592594338}"/>
              </a:ext>
            </a:extLst>
          </p:cNvPr>
          <p:cNvSpPr txBox="1"/>
          <p:nvPr/>
        </p:nvSpPr>
        <p:spPr>
          <a:xfrm>
            <a:off x="15205140" y="29706574"/>
            <a:ext cx="13566697" cy="2400657"/>
          </a:xfrm>
          <a:prstGeom prst="rect">
            <a:avLst/>
          </a:prstGeom>
          <a:noFill/>
        </p:spPr>
        <p:txBody>
          <a:bodyPr wrap="square" rtlCol="0">
            <a:spAutoFit/>
          </a:bodyPr>
          <a:lstStyle/>
          <a:p>
            <a:pPr algn="just"/>
            <a:r>
              <a:rPr lang="en-US" sz="3000" dirty="0">
                <a:latin typeface="Candara" panose="020E0502030303020204" pitchFamily="34" charset="0"/>
              </a:rPr>
              <a:t>A job moves from </a:t>
            </a:r>
            <a:r>
              <a:rPr lang="en-US" sz="3000" b="1" dirty="0">
                <a:latin typeface="Candara" panose="020E0502030303020204" pitchFamily="34" charset="0"/>
              </a:rPr>
              <a:t>UNASSIGNED</a:t>
            </a:r>
            <a:r>
              <a:rPr lang="en-US" sz="3000" dirty="0">
                <a:latin typeface="Candara" panose="020E0502030303020204" pitchFamily="34" charset="0"/>
              </a:rPr>
              <a:t> to </a:t>
            </a:r>
            <a:r>
              <a:rPr lang="en-US" sz="3000" b="1" dirty="0">
                <a:latin typeface="Candara" panose="020E0502030303020204" pitchFamily="34" charset="0"/>
              </a:rPr>
              <a:t>RUNNING</a:t>
            </a:r>
            <a:r>
              <a:rPr lang="en-US" sz="3000" dirty="0">
                <a:latin typeface="Candara" panose="020E0502030303020204" pitchFamily="34" charset="0"/>
              </a:rPr>
              <a:t> when a worker requests it, and while running it may either finish successfully (→ </a:t>
            </a:r>
            <a:r>
              <a:rPr lang="en-US" sz="3000" b="1" dirty="0">
                <a:latin typeface="Candara" panose="020E0502030303020204" pitchFamily="34" charset="0"/>
              </a:rPr>
              <a:t>DONE</a:t>
            </a:r>
            <a:r>
              <a:rPr lang="en-US" sz="3000" dirty="0">
                <a:latin typeface="Candara" panose="020E0502030303020204" pitchFamily="34" charset="0"/>
              </a:rPr>
              <a:t>), fail due to errors like OOM or runtime issues (→ </a:t>
            </a:r>
            <a:r>
              <a:rPr lang="en-US" sz="3000" b="1" dirty="0">
                <a:latin typeface="Candara" panose="020E0502030303020204" pitchFamily="34" charset="0"/>
              </a:rPr>
              <a:t>ABORTED</a:t>
            </a:r>
            <a:r>
              <a:rPr lang="en-US" sz="3000" dirty="0">
                <a:latin typeface="Candara" panose="020E0502030303020204" pitchFamily="34" charset="0"/>
              </a:rPr>
              <a:t>, then after a short grace period return to </a:t>
            </a:r>
            <a:r>
              <a:rPr lang="en-US" sz="3000" b="1" dirty="0">
                <a:latin typeface="Candara" panose="020E0502030303020204" pitchFamily="34" charset="0"/>
              </a:rPr>
              <a:t>UNASSIGNED</a:t>
            </a:r>
            <a:r>
              <a:rPr lang="en-US" sz="3000" dirty="0">
                <a:latin typeface="Candara" panose="020E0502030303020204" pitchFamily="34" charset="0"/>
              </a:rPr>
              <a:t>), or be interrupted if the worker shuts down (→ after a timeout the job goes back to </a:t>
            </a:r>
            <a:r>
              <a:rPr lang="en-US" sz="3000" b="1" dirty="0">
                <a:latin typeface="Candara" panose="020E0502030303020204" pitchFamily="34" charset="0"/>
              </a:rPr>
              <a:t>UNASSIGNED</a:t>
            </a:r>
            <a:r>
              <a:rPr lang="en-US" sz="3000" dirty="0">
                <a:latin typeface="Candara" panose="020E0502030303020204" pitchFamily="34" charset="0"/>
              </a:rPr>
              <a:t>).</a:t>
            </a:r>
            <a:endParaRPr lang="en-US" sz="3000" dirty="0">
              <a:latin typeface="Candara" panose="020E0502030303020204" pitchFamily="34" charset="0"/>
              <a:cs typeface="Times New Roman" panose="02020603050405020304" pitchFamily="18" charset="0"/>
            </a:endParaRPr>
          </a:p>
        </p:txBody>
      </p:sp>
      <p:pic>
        <p:nvPicPr>
          <p:cNvPr id="40" name="Picture 39">
            <a:extLst>
              <a:ext uri="{FF2B5EF4-FFF2-40B4-BE49-F238E27FC236}">
                <a16:creationId xmlns:a16="http://schemas.microsoft.com/office/drawing/2014/main" id="{B0150043-F86A-2BEB-594B-6A14CC94F6F1}"/>
              </a:ext>
            </a:extLst>
          </p:cNvPr>
          <p:cNvPicPr>
            <a:picLocks noChangeAspect="1"/>
          </p:cNvPicPr>
          <p:nvPr/>
        </p:nvPicPr>
        <p:blipFill>
          <a:blip r:embed="rId10"/>
          <a:stretch>
            <a:fillRect/>
          </a:stretch>
        </p:blipFill>
        <p:spPr>
          <a:xfrm>
            <a:off x="29812787" y="6412223"/>
            <a:ext cx="13452087" cy="9220048"/>
          </a:xfrm>
          <a:prstGeom prst="rect">
            <a:avLst/>
          </a:prstGeom>
        </p:spPr>
      </p:pic>
      <p:sp>
        <p:nvSpPr>
          <p:cNvPr id="41" name="Rectangle 40">
            <a:extLst>
              <a:ext uri="{FF2B5EF4-FFF2-40B4-BE49-F238E27FC236}">
                <a16:creationId xmlns:a16="http://schemas.microsoft.com/office/drawing/2014/main" id="{D50CFD4C-8F65-AE61-CE6C-244D4B4D99F4}"/>
              </a:ext>
            </a:extLst>
          </p:cNvPr>
          <p:cNvSpPr/>
          <p:nvPr/>
        </p:nvSpPr>
        <p:spPr>
          <a:xfrm>
            <a:off x="29841368" y="6421844"/>
            <a:ext cx="13393379" cy="9210427"/>
          </a:xfrm>
          <a:prstGeom prst="rect">
            <a:avLst/>
          </a:prstGeom>
          <a:noFill/>
          <a:ln w="38100">
            <a:solidFill>
              <a:schemeClr val="accent6">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pic>
        <p:nvPicPr>
          <p:cNvPr id="42" name="Picture 41">
            <a:extLst>
              <a:ext uri="{FF2B5EF4-FFF2-40B4-BE49-F238E27FC236}">
                <a16:creationId xmlns:a16="http://schemas.microsoft.com/office/drawing/2014/main" id="{303B62ED-2E01-6540-D0A9-1E642B17F1DC}"/>
              </a:ext>
            </a:extLst>
          </p:cNvPr>
          <p:cNvPicPr>
            <a:picLocks noChangeAspect="1"/>
          </p:cNvPicPr>
          <p:nvPr/>
        </p:nvPicPr>
        <p:blipFill>
          <a:blip r:embed="rId11"/>
          <a:stretch>
            <a:fillRect/>
          </a:stretch>
        </p:blipFill>
        <p:spPr>
          <a:xfrm>
            <a:off x="29655121" y="20163863"/>
            <a:ext cx="13458186" cy="5821305"/>
          </a:xfrm>
          <a:prstGeom prst="rect">
            <a:avLst/>
          </a:prstGeom>
        </p:spPr>
      </p:pic>
      <p:sp>
        <p:nvSpPr>
          <p:cNvPr id="43" name="TextBox 42">
            <a:extLst>
              <a:ext uri="{FF2B5EF4-FFF2-40B4-BE49-F238E27FC236}">
                <a16:creationId xmlns:a16="http://schemas.microsoft.com/office/drawing/2014/main" id="{761E8F62-66CA-2F97-D04E-84674FF88311}"/>
              </a:ext>
            </a:extLst>
          </p:cNvPr>
          <p:cNvSpPr txBox="1"/>
          <p:nvPr/>
        </p:nvSpPr>
        <p:spPr>
          <a:xfrm>
            <a:off x="29306040" y="26080621"/>
            <a:ext cx="13928707" cy="1477328"/>
          </a:xfrm>
          <a:prstGeom prst="rect">
            <a:avLst/>
          </a:prstGeom>
          <a:noFill/>
        </p:spPr>
        <p:txBody>
          <a:bodyPr wrap="square" rtlCol="0">
            <a:spAutoFit/>
          </a:bodyPr>
          <a:lstStyle/>
          <a:p>
            <a:pPr algn="just"/>
            <a:r>
              <a:rPr lang="en-US" sz="3000" b="1" dirty="0">
                <a:latin typeface="Candara" panose="020E0502030303020204" pitchFamily="34" charset="0"/>
                <a:cs typeface="Times New Roman" panose="02020603050405020304" pitchFamily="18" charset="0"/>
              </a:rPr>
              <a:t>Figure</a:t>
            </a:r>
            <a:r>
              <a:rPr lang="en-US" sz="3000" dirty="0">
                <a:latin typeface="Candara" panose="020E0502030303020204" pitchFamily="34" charset="0"/>
                <a:cs typeface="Times New Roman" panose="02020603050405020304" pitchFamily="18" charset="0"/>
              </a:rPr>
              <a:t>:  Task count vs. average task runtime, illustrating the inverse correlation between machine speed and job count and demonstrating how DART leverages resource heterogeneity.</a:t>
            </a:r>
          </a:p>
        </p:txBody>
      </p:sp>
      <p:sp>
        <p:nvSpPr>
          <p:cNvPr id="44" name="Rounded Rectangle 378">
            <a:extLst>
              <a:ext uri="{FF2B5EF4-FFF2-40B4-BE49-F238E27FC236}">
                <a16:creationId xmlns:a16="http://schemas.microsoft.com/office/drawing/2014/main" id="{D3037704-7589-A23D-5072-D6FAE9423E0B}"/>
              </a:ext>
            </a:extLst>
          </p:cNvPr>
          <p:cNvSpPr/>
          <p:nvPr/>
        </p:nvSpPr>
        <p:spPr bwMode="auto">
          <a:xfrm>
            <a:off x="29384607" y="27653402"/>
            <a:ext cx="13716000" cy="774901"/>
          </a:xfrm>
          <a:prstGeom prst="roundRect">
            <a:avLst/>
          </a:prstGeom>
          <a:solidFill>
            <a:schemeClr val="bg2">
              <a:lumMod val="75000"/>
              <a:alpha val="25000"/>
            </a:schemeClr>
          </a:solidFill>
          <a:ln w="50800" cap="flat" cmpd="dbl"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sz="4320" b="1" dirty="0">
                <a:solidFill>
                  <a:srgbClr val="920000"/>
                </a:solidFill>
                <a:latin typeface="Candara" panose="020E0502030303020204" pitchFamily="34" charset="0"/>
                <a:ea typeface="Cambria" panose="02040503050406030204" pitchFamily="18" charset="0"/>
                <a:cs typeface="Arial" panose="020B0604020202020204" pitchFamily="34" charset="0"/>
              </a:rPr>
              <a:t>Interested in Using DART in Your Research Workflow?</a:t>
            </a:r>
          </a:p>
        </p:txBody>
      </p:sp>
      <p:pic>
        <p:nvPicPr>
          <p:cNvPr id="45" name="Graphic 44">
            <a:extLst>
              <a:ext uri="{FF2B5EF4-FFF2-40B4-BE49-F238E27FC236}">
                <a16:creationId xmlns:a16="http://schemas.microsoft.com/office/drawing/2014/main" id="{FCE91B1E-F64F-650A-D215-0A2D6F7BC6E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946600" y="28915509"/>
            <a:ext cx="2342283" cy="2826589"/>
          </a:xfrm>
          <a:prstGeom prst="rect">
            <a:avLst/>
          </a:prstGeom>
        </p:spPr>
      </p:pic>
      <p:pic>
        <p:nvPicPr>
          <p:cNvPr id="46" name="Graphic 45">
            <a:extLst>
              <a:ext uri="{FF2B5EF4-FFF2-40B4-BE49-F238E27FC236}">
                <a16:creationId xmlns:a16="http://schemas.microsoft.com/office/drawing/2014/main" id="{CAD27106-BD6B-2B8A-2B73-BCDF5DB15AC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92084" y="29072044"/>
            <a:ext cx="2010813" cy="2513517"/>
          </a:xfrm>
          <a:prstGeom prst="rect">
            <a:avLst/>
          </a:prstGeom>
        </p:spPr>
      </p:pic>
      <p:sp>
        <p:nvSpPr>
          <p:cNvPr id="48" name="TextBox 47">
            <a:extLst>
              <a:ext uri="{FF2B5EF4-FFF2-40B4-BE49-F238E27FC236}">
                <a16:creationId xmlns:a16="http://schemas.microsoft.com/office/drawing/2014/main" id="{7C154E4D-7E30-9F7A-FE0B-7F661C470288}"/>
              </a:ext>
            </a:extLst>
          </p:cNvPr>
          <p:cNvSpPr txBox="1"/>
          <p:nvPr/>
        </p:nvSpPr>
        <p:spPr>
          <a:xfrm>
            <a:off x="31850793" y="29202724"/>
            <a:ext cx="8839200" cy="584775"/>
          </a:xfrm>
          <a:prstGeom prst="rect">
            <a:avLst/>
          </a:prstGeom>
          <a:noFill/>
        </p:spPr>
        <p:txBody>
          <a:bodyPr wrap="square">
            <a:spAutoFit/>
          </a:bodyPr>
          <a:lstStyle/>
          <a:p>
            <a:r>
              <a:rPr lang="en-US" sz="3200" dirty="0">
                <a:latin typeface="Candara" panose="020E0502030303020204" pitchFamily="34" charset="0"/>
                <a:hlinkClick r:id="rId16"/>
              </a:rPr>
              <a:t>https://</a:t>
            </a:r>
            <a:r>
              <a:rPr lang="en-US" sz="3200" dirty="0" err="1">
                <a:latin typeface="Candara" panose="020E0502030303020204" pitchFamily="34" charset="0"/>
                <a:hlinkClick r:id="rId16"/>
              </a:rPr>
              <a:t>github.com</a:t>
            </a:r>
            <a:r>
              <a:rPr lang="en-US" sz="3200" dirty="0">
                <a:latin typeface="Candara" panose="020E0502030303020204" pitchFamily="34" charset="0"/>
                <a:hlinkClick r:id="rId16"/>
              </a:rPr>
              <a:t>/NWSL-UCF/job-</a:t>
            </a:r>
            <a:r>
              <a:rPr lang="en-US" sz="3200" dirty="0" err="1">
                <a:latin typeface="Candara" panose="020E0502030303020204" pitchFamily="34" charset="0"/>
                <a:hlinkClick r:id="rId16"/>
              </a:rPr>
              <a:t>distributor.git</a:t>
            </a:r>
            <a:endParaRPr lang="en-US" sz="3200" dirty="0">
              <a:latin typeface="Candara" panose="020E0502030303020204" pitchFamily="34" charset="0"/>
            </a:endParaRPr>
          </a:p>
        </p:txBody>
      </p:sp>
      <p:sp>
        <p:nvSpPr>
          <p:cNvPr id="49" name="TextBox 48">
            <a:extLst>
              <a:ext uri="{FF2B5EF4-FFF2-40B4-BE49-F238E27FC236}">
                <a16:creationId xmlns:a16="http://schemas.microsoft.com/office/drawing/2014/main" id="{18D51709-2DEA-8A7E-97E8-E5ECB5242066}"/>
              </a:ext>
            </a:extLst>
          </p:cNvPr>
          <p:cNvSpPr txBox="1"/>
          <p:nvPr/>
        </p:nvSpPr>
        <p:spPr>
          <a:xfrm>
            <a:off x="33051107" y="30693655"/>
            <a:ext cx="6666214" cy="584775"/>
          </a:xfrm>
          <a:prstGeom prst="rect">
            <a:avLst/>
          </a:prstGeom>
          <a:noFill/>
        </p:spPr>
        <p:txBody>
          <a:bodyPr wrap="square">
            <a:spAutoFit/>
          </a:bodyPr>
          <a:lstStyle/>
          <a:p>
            <a:r>
              <a:rPr lang="en-US" sz="3200" dirty="0">
                <a:latin typeface="Candara" panose="020E0502030303020204" pitchFamily="34" charset="0"/>
                <a:hlinkClick r:id="rId17"/>
              </a:rPr>
              <a:t>https://jobdistributor.abdur-rouf.com</a:t>
            </a:r>
            <a:endParaRPr lang="en-US" sz="3200" dirty="0">
              <a:latin typeface="Candara" panose="020E0502030303020204" pitchFamily="34" charset="0"/>
            </a:endParaRPr>
          </a:p>
        </p:txBody>
      </p:sp>
      <p:sp>
        <p:nvSpPr>
          <p:cNvPr id="65" name="Bent-Up Arrow 64">
            <a:extLst>
              <a:ext uri="{FF2B5EF4-FFF2-40B4-BE49-F238E27FC236}">
                <a16:creationId xmlns:a16="http://schemas.microsoft.com/office/drawing/2014/main" id="{3A7504BF-E66A-CC7B-6B0F-A45852A4EF88}"/>
              </a:ext>
            </a:extLst>
          </p:cNvPr>
          <p:cNvSpPr/>
          <p:nvPr/>
        </p:nvSpPr>
        <p:spPr bwMode="auto">
          <a:xfrm rot="5400000" flipV="1">
            <a:off x="32904091" y="29303385"/>
            <a:ext cx="825653" cy="1793882"/>
          </a:xfrm>
          <a:custGeom>
            <a:avLst/>
            <a:gdLst>
              <a:gd name="connsiteX0" fmla="*/ 0 w 825653"/>
              <a:gd name="connsiteY0" fmla="*/ 1587469 h 1793882"/>
              <a:gd name="connsiteX1" fmla="*/ 516033 w 825653"/>
              <a:gd name="connsiteY1" fmla="*/ 1587469 h 1793882"/>
              <a:gd name="connsiteX2" fmla="*/ 516033 w 825653"/>
              <a:gd name="connsiteY2" fmla="*/ 1154738 h 1793882"/>
              <a:gd name="connsiteX3" fmla="*/ 516033 w 825653"/>
              <a:gd name="connsiteY3" fmla="*/ 708197 h 1793882"/>
              <a:gd name="connsiteX4" fmla="*/ 516033 w 825653"/>
              <a:gd name="connsiteY4" fmla="*/ 206413 h 1793882"/>
              <a:gd name="connsiteX5" fmla="*/ 412827 w 825653"/>
              <a:gd name="connsiteY5" fmla="*/ 206413 h 1793882"/>
              <a:gd name="connsiteX6" fmla="*/ 619240 w 825653"/>
              <a:gd name="connsiteY6" fmla="*/ 0 h 1793882"/>
              <a:gd name="connsiteX7" fmla="*/ 825653 w 825653"/>
              <a:gd name="connsiteY7" fmla="*/ 206413 h 1793882"/>
              <a:gd name="connsiteX8" fmla="*/ 722446 w 825653"/>
              <a:gd name="connsiteY8" fmla="*/ 206413 h 1793882"/>
              <a:gd name="connsiteX9" fmla="*/ 722446 w 825653"/>
              <a:gd name="connsiteY9" fmla="*/ 751444 h 1793882"/>
              <a:gd name="connsiteX10" fmla="*/ 722446 w 825653"/>
              <a:gd name="connsiteY10" fmla="*/ 1296475 h 1793882"/>
              <a:gd name="connsiteX11" fmla="*/ 722446 w 825653"/>
              <a:gd name="connsiteY11" fmla="*/ 1793882 h 1793882"/>
              <a:gd name="connsiteX12" fmla="*/ 353999 w 825653"/>
              <a:gd name="connsiteY12" fmla="*/ 1793882 h 1793882"/>
              <a:gd name="connsiteX13" fmla="*/ 0 w 825653"/>
              <a:gd name="connsiteY13" fmla="*/ 1793882 h 1793882"/>
              <a:gd name="connsiteX14" fmla="*/ 0 w 825653"/>
              <a:gd name="connsiteY14" fmla="*/ 1587469 h 179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653" h="1793882" fill="none" extrusionOk="0">
                <a:moveTo>
                  <a:pt x="0" y="1587469"/>
                </a:moveTo>
                <a:cubicBezTo>
                  <a:pt x="108988" y="1545303"/>
                  <a:pt x="357202" y="1625381"/>
                  <a:pt x="516033" y="1587469"/>
                </a:cubicBezTo>
                <a:cubicBezTo>
                  <a:pt x="476887" y="1391129"/>
                  <a:pt x="534455" y="1287295"/>
                  <a:pt x="516033" y="1154738"/>
                </a:cubicBezTo>
                <a:cubicBezTo>
                  <a:pt x="497611" y="1022181"/>
                  <a:pt x="555332" y="835651"/>
                  <a:pt x="516033" y="708197"/>
                </a:cubicBezTo>
                <a:cubicBezTo>
                  <a:pt x="476734" y="580743"/>
                  <a:pt x="547168" y="435004"/>
                  <a:pt x="516033" y="206413"/>
                </a:cubicBezTo>
                <a:cubicBezTo>
                  <a:pt x="477970" y="208003"/>
                  <a:pt x="439369" y="204793"/>
                  <a:pt x="412827" y="206413"/>
                </a:cubicBezTo>
                <a:cubicBezTo>
                  <a:pt x="441449" y="141731"/>
                  <a:pt x="546478" y="89217"/>
                  <a:pt x="619240" y="0"/>
                </a:cubicBezTo>
                <a:cubicBezTo>
                  <a:pt x="740693" y="77749"/>
                  <a:pt x="708728" y="130984"/>
                  <a:pt x="825653" y="206413"/>
                </a:cubicBezTo>
                <a:cubicBezTo>
                  <a:pt x="793014" y="209912"/>
                  <a:pt x="753770" y="196975"/>
                  <a:pt x="722446" y="206413"/>
                </a:cubicBezTo>
                <a:cubicBezTo>
                  <a:pt x="755511" y="461880"/>
                  <a:pt x="671667" y="497339"/>
                  <a:pt x="722446" y="751444"/>
                </a:cubicBezTo>
                <a:cubicBezTo>
                  <a:pt x="773225" y="1005549"/>
                  <a:pt x="664581" y="1163125"/>
                  <a:pt x="722446" y="1296475"/>
                </a:cubicBezTo>
                <a:cubicBezTo>
                  <a:pt x="780311" y="1429825"/>
                  <a:pt x="718341" y="1619669"/>
                  <a:pt x="722446" y="1793882"/>
                </a:cubicBezTo>
                <a:cubicBezTo>
                  <a:pt x="570917" y="1798080"/>
                  <a:pt x="525133" y="1759925"/>
                  <a:pt x="353999" y="1793882"/>
                </a:cubicBezTo>
                <a:cubicBezTo>
                  <a:pt x="182865" y="1827839"/>
                  <a:pt x="124874" y="1766598"/>
                  <a:pt x="0" y="1793882"/>
                </a:cubicBezTo>
                <a:cubicBezTo>
                  <a:pt x="-11216" y="1736192"/>
                  <a:pt x="12693" y="1653373"/>
                  <a:pt x="0" y="1587469"/>
                </a:cubicBezTo>
                <a:close/>
              </a:path>
              <a:path w="825653" h="1793882" stroke="0" extrusionOk="0">
                <a:moveTo>
                  <a:pt x="0" y="1587469"/>
                </a:moveTo>
                <a:cubicBezTo>
                  <a:pt x="230809" y="1526719"/>
                  <a:pt x="365691" y="1643715"/>
                  <a:pt x="516033" y="1587469"/>
                </a:cubicBezTo>
                <a:cubicBezTo>
                  <a:pt x="499528" y="1381978"/>
                  <a:pt x="548023" y="1271617"/>
                  <a:pt x="516033" y="1168549"/>
                </a:cubicBezTo>
                <a:cubicBezTo>
                  <a:pt x="484043" y="1065481"/>
                  <a:pt x="562949" y="917299"/>
                  <a:pt x="516033" y="680576"/>
                </a:cubicBezTo>
                <a:cubicBezTo>
                  <a:pt x="469117" y="443853"/>
                  <a:pt x="546451" y="334320"/>
                  <a:pt x="516033" y="206413"/>
                </a:cubicBezTo>
                <a:cubicBezTo>
                  <a:pt x="484412" y="210677"/>
                  <a:pt x="441979" y="201700"/>
                  <a:pt x="412827" y="206413"/>
                </a:cubicBezTo>
                <a:cubicBezTo>
                  <a:pt x="513423" y="105156"/>
                  <a:pt x="537188" y="91808"/>
                  <a:pt x="619240" y="0"/>
                </a:cubicBezTo>
                <a:cubicBezTo>
                  <a:pt x="732022" y="93088"/>
                  <a:pt x="716422" y="141140"/>
                  <a:pt x="825653" y="206413"/>
                </a:cubicBezTo>
                <a:cubicBezTo>
                  <a:pt x="786316" y="206729"/>
                  <a:pt x="770819" y="198396"/>
                  <a:pt x="722446" y="206413"/>
                </a:cubicBezTo>
                <a:cubicBezTo>
                  <a:pt x="725707" y="438508"/>
                  <a:pt x="717236" y="560363"/>
                  <a:pt x="722446" y="735569"/>
                </a:cubicBezTo>
                <a:cubicBezTo>
                  <a:pt x="727656" y="910775"/>
                  <a:pt x="706216" y="1102153"/>
                  <a:pt x="722446" y="1280600"/>
                </a:cubicBezTo>
                <a:cubicBezTo>
                  <a:pt x="738676" y="1459047"/>
                  <a:pt x="676195" y="1641837"/>
                  <a:pt x="722446" y="1793882"/>
                </a:cubicBezTo>
                <a:cubicBezTo>
                  <a:pt x="614004" y="1821527"/>
                  <a:pt x="467161" y="1783055"/>
                  <a:pt x="346774" y="1793882"/>
                </a:cubicBezTo>
                <a:cubicBezTo>
                  <a:pt x="226387" y="1804709"/>
                  <a:pt x="121592" y="1791921"/>
                  <a:pt x="0" y="1793882"/>
                </a:cubicBezTo>
                <a:cubicBezTo>
                  <a:pt x="-4045" y="1698677"/>
                  <a:pt x="21983" y="1663792"/>
                  <a:pt x="0" y="1587469"/>
                </a:cubicBezTo>
                <a:close/>
              </a:path>
            </a:pathLst>
          </a:custGeom>
          <a:pattFill prst="wdUpDiag">
            <a:fgClr>
              <a:srgbClr val="92D050"/>
            </a:fgClr>
            <a:bgClr>
              <a:schemeClr val="bg1"/>
            </a:bgClr>
          </a:pattFill>
          <a:ln w="38100" cap="flat" cmpd="sng" algn="ctr">
            <a:solidFill>
              <a:srgbClr val="00B050"/>
            </a:solidFill>
            <a:prstDash val="solid"/>
            <a:round/>
            <a:headEnd type="none" w="med" len="med"/>
            <a:tailEnd type="none" w="med" len="med"/>
            <a:extLst>
              <a:ext uri="{C807C97D-BFC1-408E-A445-0C87EB9F89A2}">
                <ask:lineSketchStyleProps xmlns:ask="http://schemas.microsoft.com/office/drawing/2018/sketchyshapes" sd="1219033472">
                  <a:prstGeom prst="bentUpArrow">
                    <a:avLst/>
                  </a:prstGeom>
                  <ask:type>
                    <ask:lineSketchScribble/>
                  </ask:type>
                </ask:lineSketchStyleProps>
              </a:ext>
            </a:extLst>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p:txBody>
      </p:sp>
      <p:sp>
        <p:nvSpPr>
          <p:cNvPr id="66" name="Bent-Up Arrow 65">
            <a:extLst>
              <a:ext uri="{FF2B5EF4-FFF2-40B4-BE49-F238E27FC236}">
                <a16:creationId xmlns:a16="http://schemas.microsoft.com/office/drawing/2014/main" id="{7F5A32AB-B472-3C02-AADE-2CA18FB21B09}"/>
              </a:ext>
            </a:extLst>
          </p:cNvPr>
          <p:cNvSpPr/>
          <p:nvPr/>
        </p:nvSpPr>
        <p:spPr bwMode="auto">
          <a:xfrm rot="5400000" flipH="1">
            <a:off x="39426195" y="29431859"/>
            <a:ext cx="941247" cy="1793884"/>
          </a:xfrm>
          <a:custGeom>
            <a:avLst/>
            <a:gdLst>
              <a:gd name="connsiteX0" fmla="*/ 0 w 941247"/>
              <a:gd name="connsiteY0" fmla="*/ 1558572 h 1793884"/>
              <a:gd name="connsiteX1" fmla="*/ 588279 w 941247"/>
              <a:gd name="connsiteY1" fmla="*/ 1558572 h 1793884"/>
              <a:gd name="connsiteX2" fmla="*/ 588279 w 941247"/>
              <a:gd name="connsiteY2" fmla="*/ 1143951 h 1793884"/>
              <a:gd name="connsiteX3" fmla="*/ 588279 w 941247"/>
              <a:gd name="connsiteY3" fmla="*/ 716096 h 1793884"/>
              <a:gd name="connsiteX4" fmla="*/ 588279 w 941247"/>
              <a:gd name="connsiteY4" fmla="*/ 235312 h 1793884"/>
              <a:gd name="connsiteX5" fmla="*/ 470624 w 941247"/>
              <a:gd name="connsiteY5" fmla="*/ 235312 h 1793884"/>
              <a:gd name="connsiteX6" fmla="*/ 705935 w 941247"/>
              <a:gd name="connsiteY6" fmla="*/ 0 h 1793884"/>
              <a:gd name="connsiteX7" fmla="*/ 941247 w 941247"/>
              <a:gd name="connsiteY7" fmla="*/ 235312 h 1793884"/>
              <a:gd name="connsiteX8" fmla="*/ 823591 w 941247"/>
              <a:gd name="connsiteY8" fmla="*/ 235312 h 1793884"/>
              <a:gd name="connsiteX9" fmla="*/ 823591 w 941247"/>
              <a:gd name="connsiteY9" fmla="*/ 770422 h 1793884"/>
              <a:gd name="connsiteX10" fmla="*/ 823591 w 941247"/>
              <a:gd name="connsiteY10" fmla="*/ 1305531 h 1793884"/>
              <a:gd name="connsiteX11" fmla="*/ 823591 w 941247"/>
              <a:gd name="connsiteY11" fmla="*/ 1793884 h 1793884"/>
              <a:gd name="connsiteX12" fmla="*/ 403560 w 941247"/>
              <a:gd name="connsiteY12" fmla="*/ 1793884 h 1793884"/>
              <a:gd name="connsiteX13" fmla="*/ 0 w 941247"/>
              <a:gd name="connsiteY13" fmla="*/ 1793884 h 1793884"/>
              <a:gd name="connsiteX14" fmla="*/ 0 w 941247"/>
              <a:gd name="connsiteY14" fmla="*/ 1558572 h 179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247" h="1793884" fill="none" extrusionOk="0">
                <a:moveTo>
                  <a:pt x="0" y="1558572"/>
                </a:moveTo>
                <a:cubicBezTo>
                  <a:pt x="177395" y="1508732"/>
                  <a:pt x="371268" y="1573429"/>
                  <a:pt x="588279" y="1558572"/>
                </a:cubicBezTo>
                <a:cubicBezTo>
                  <a:pt x="555996" y="1440223"/>
                  <a:pt x="617164" y="1274609"/>
                  <a:pt x="588279" y="1143951"/>
                </a:cubicBezTo>
                <a:cubicBezTo>
                  <a:pt x="559394" y="1013293"/>
                  <a:pt x="623541" y="818124"/>
                  <a:pt x="588279" y="716096"/>
                </a:cubicBezTo>
                <a:cubicBezTo>
                  <a:pt x="553017" y="614068"/>
                  <a:pt x="621903" y="339947"/>
                  <a:pt x="588279" y="235312"/>
                </a:cubicBezTo>
                <a:cubicBezTo>
                  <a:pt x="530924" y="239607"/>
                  <a:pt x="517365" y="222361"/>
                  <a:pt x="470624" y="235312"/>
                </a:cubicBezTo>
                <a:cubicBezTo>
                  <a:pt x="530903" y="142439"/>
                  <a:pt x="593312" y="117859"/>
                  <a:pt x="705935" y="0"/>
                </a:cubicBezTo>
                <a:cubicBezTo>
                  <a:pt x="787507" y="49146"/>
                  <a:pt x="816373" y="144135"/>
                  <a:pt x="941247" y="235312"/>
                </a:cubicBezTo>
                <a:cubicBezTo>
                  <a:pt x="909438" y="241246"/>
                  <a:pt x="866896" y="233243"/>
                  <a:pt x="823591" y="235312"/>
                </a:cubicBezTo>
                <a:cubicBezTo>
                  <a:pt x="861909" y="463131"/>
                  <a:pt x="775833" y="606703"/>
                  <a:pt x="823591" y="770422"/>
                </a:cubicBezTo>
                <a:cubicBezTo>
                  <a:pt x="871349" y="934141"/>
                  <a:pt x="771482" y="1073622"/>
                  <a:pt x="823591" y="1305531"/>
                </a:cubicBezTo>
                <a:cubicBezTo>
                  <a:pt x="875700" y="1537440"/>
                  <a:pt x="795340" y="1590453"/>
                  <a:pt x="823591" y="1793884"/>
                </a:cubicBezTo>
                <a:cubicBezTo>
                  <a:pt x="689946" y="1839814"/>
                  <a:pt x="554163" y="1755672"/>
                  <a:pt x="403560" y="1793884"/>
                </a:cubicBezTo>
                <a:cubicBezTo>
                  <a:pt x="252957" y="1832096"/>
                  <a:pt x="88247" y="1773863"/>
                  <a:pt x="0" y="1793884"/>
                </a:cubicBezTo>
                <a:cubicBezTo>
                  <a:pt x="-14047" y="1701014"/>
                  <a:pt x="23623" y="1668880"/>
                  <a:pt x="0" y="1558572"/>
                </a:cubicBezTo>
                <a:close/>
              </a:path>
              <a:path w="941247" h="1793884" stroke="0" extrusionOk="0">
                <a:moveTo>
                  <a:pt x="0" y="1558572"/>
                </a:moveTo>
                <a:cubicBezTo>
                  <a:pt x="119472" y="1494353"/>
                  <a:pt x="451937" y="1622185"/>
                  <a:pt x="588279" y="1558572"/>
                </a:cubicBezTo>
                <a:cubicBezTo>
                  <a:pt x="564857" y="1437635"/>
                  <a:pt x="614755" y="1307041"/>
                  <a:pt x="588279" y="1157183"/>
                </a:cubicBezTo>
                <a:cubicBezTo>
                  <a:pt x="561803" y="1007325"/>
                  <a:pt x="624811" y="819740"/>
                  <a:pt x="588279" y="689631"/>
                </a:cubicBezTo>
                <a:cubicBezTo>
                  <a:pt x="551747" y="559522"/>
                  <a:pt x="620341" y="422695"/>
                  <a:pt x="588279" y="235312"/>
                </a:cubicBezTo>
                <a:cubicBezTo>
                  <a:pt x="531714" y="249280"/>
                  <a:pt x="513613" y="229173"/>
                  <a:pt x="470624" y="235312"/>
                </a:cubicBezTo>
                <a:cubicBezTo>
                  <a:pt x="555841" y="104665"/>
                  <a:pt x="640559" y="93805"/>
                  <a:pt x="705935" y="0"/>
                </a:cubicBezTo>
                <a:cubicBezTo>
                  <a:pt x="788635" y="31407"/>
                  <a:pt x="852036" y="182190"/>
                  <a:pt x="941247" y="235312"/>
                </a:cubicBezTo>
                <a:cubicBezTo>
                  <a:pt x="889720" y="246220"/>
                  <a:pt x="880813" y="231761"/>
                  <a:pt x="823591" y="235312"/>
                </a:cubicBezTo>
                <a:cubicBezTo>
                  <a:pt x="872321" y="436920"/>
                  <a:pt x="773837" y="649131"/>
                  <a:pt x="823591" y="754836"/>
                </a:cubicBezTo>
                <a:cubicBezTo>
                  <a:pt x="873345" y="860541"/>
                  <a:pt x="798891" y="1181228"/>
                  <a:pt x="823591" y="1289946"/>
                </a:cubicBezTo>
                <a:cubicBezTo>
                  <a:pt x="848291" y="1398664"/>
                  <a:pt x="792165" y="1636164"/>
                  <a:pt x="823591" y="1793884"/>
                </a:cubicBezTo>
                <a:cubicBezTo>
                  <a:pt x="664147" y="1828206"/>
                  <a:pt x="490589" y="1762855"/>
                  <a:pt x="395324" y="1793884"/>
                </a:cubicBezTo>
                <a:cubicBezTo>
                  <a:pt x="300059" y="1824913"/>
                  <a:pt x="144943" y="1784629"/>
                  <a:pt x="0" y="1793884"/>
                </a:cubicBezTo>
                <a:cubicBezTo>
                  <a:pt x="-22917" y="1746574"/>
                  <a:pt x="27902" y="1641225"/>
                  <a:pt x="0" y="1558572"/>
                </a:cubicBezTo>
                <a:close/>
              </a:path>
            </a:pathLst>
          </a:custGeom>
          <a:pattFill prst="wdUpDiag">
            <a:fgClr>
              <a:srgbClr val="92D050"/>
            </a:fgClr>
            <a:bgClr>
              <a:schemeClr val="bg1"/>
            </a:bgClr>
          </a:pattFill>
          <a:ln w="38100" cap="flat" cmpd="sng" algn="ctr">
            <a:solidFill>
              <a:srgbClr val="00B050"/>
            </a:solidFill>
            <a:prstDash val="solid"/>
            <a:round/>
            <a:headEnd type="none" w="med" len="med"/>
            <a:tailEnd type="none" w="med" len="med"/>
            <a:extLst>
              <a:ext uri="{C807C97D-BFC1-408E-A445-0C87EB9F89A2}">
                <ask:lineSketchStyleProps xmlns:ask="http://schemas.microsoft.com/office/drawing/2018/sketchyshapes" sd="1219033472">
                  <a:prstGeom prst="bentUpArrow">
                    <a:avLst/>
                  </a:prstGeom>
                  <ask:type>
                    <ask:lineSketchScribble/>
                  </ask:type>
                </ask:lineSketchStyleProps>
              </a:ext>
            </a:extLst>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p:txBody>
      </p:sp>
    </p:spTree>
    <p:extLst>
      <p:ext uri="{BB962C8B-B14F-4D97-AF65-F5344CB8AC3E}">
        <p14:creationId xmlns:p14="http://schemas.microsoft.com/office/powerpoint/2010/main" val="3303648150"/>
      </p:ext>
    </p:extLst>
  </p:cSld>
  <p:clrMapOvr>
    <a:masterClrMapping/>
  </p:clrMapOvr>
</p:sld>
</file>

<file path=ppt/theme/theme1.xml><?xml version="1.0" encoding="utf-8"?>
<a:theme xmlns:a="http://schemas.openxmlformats.org/drawingml/2006/main" name="Blank Presentation">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8586</TotalTime>
  <Words>598</Words>
  <Application>Microsoft Macintosh PowerPoint</Application>
  <PresentationFormat>Custom</PresentationFormat>
  <Paragraphs>43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Candara</vt:lpstr>
      <vt:lpstr>Times</vt:lpstr>
      <vt:lpstr>Times New Roman</vt:lpstr>
      <vt:lpstr>Wingdings</vt:lpstr>
      <vt:lpstr>Blank Presentation</vt:lpstr>
      <vt:lpstr>PowerPoint Presentation</vt:lpstr>
    </vt:vector>
  </TitlesOfParts>
  <Company>ISU Printing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 Louden</dc:creator>
  <cp:lastModifiedBy>Abdur Rouf</cp:lastModifiedBy>
  <cp:revision>362</cp:revision>
  <cp:lastPrinted>2018-06-18T19:15:17Z</cp:lastPrinted>
  <dcterms:created xsi:type="dcterms:W3CDTF">2011-03-25T15:34:05Z</dcterms:created>
  <dcterms:modified xsi:type="dcterms:W3CDTF">2025-09-30T23:29:27Z</dcterms:modified>
</cp:coreProperties>
</file>