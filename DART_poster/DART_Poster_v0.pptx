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3" r:id="rId2"/>
  </p:sldMasterIdLst>
  <p:notesMasterIdLst>
    <p:notesMasterId r:id="rId4"/>
  </p:notesMasterIdLst>
  <p:handoutMasterIdLst>
    <p:handoutMasterId r:id="rId5"/>
  </p:handoutMasterIdLst>
  <p:sldIdLst>
    <p:sldId id="257" r:id="rId3"/>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18">
          <p15:clr>
            <a:srgbClr val="A4A3A4"/>
          </p15:clr>
        </p15:guide>
        <p15:guide id="2" orient="horz" pos="288">
          <p15:clr>
            <a:srgbClr val="A4A3A4"/>
          </p15:clr>
        </p15:guide>
        <p15:guide id="3" orient="horz" pos="20160">
          <p15:clr>
            <a:srgbClr val="A4A3A4"/>
          </p15:clr>
        </p15:guide>
        <p15:guide id="4" orient="horz">
          <p15:clr>
            <a:srgbClr val="A4A3A4"/>
          </p15:clr>
        </p15:guide>
        <p15:guide id="5" pos="264" userDrawn="1">
          <p15:clr>
            <a:srgbClr val="A4A3A4"/>
          </p15:clr>
        </p15:guide>
        <p15:guide id="6" pos="27384"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5266" autoAdjust="0"/>
    <p:restoredTop sz="94719" autoAdjust="0"/>
  </p:normalViewPr>
  <p:slideViewPr>
    <p:cSldViewPr snapToGrid="0" snapToObjects="1" showGuides="1">
      <p:cViewPr>
        <p:scale>
          <a:sx n="23" d="100"/>
          <a:sy n="23" d="100"/>
        </p:scale>
        <p:origin x="2664" y="456"/>
      </p:cViewPr>
      <p:guideLst>
        <p:guide orient="horz" pos="3318"/>
        <p:guide orient="horz" pos="288"/>
        <p:guide orient="horz" pos="20160"/>
        <p:guide orient="horz"/>
        <p:guide pos="264"/>
        <p:guide pos="27384"/>
      </p:guideLst>
    </p:cSldViewPr>
  </p:slideViewPr>
  <p:outlineViewPr>
    <p:cViewPr>
      <p:scale>
        <a:sx n="33" d="100"/>
        <a:sy n="33" d="100"/>
      </p:scale>
      <p:origin x="0" y="0"/>
    </p:cViewPr>
  </p:outlineViewPr>
  <p:notesTextViewPr>
    <p:cViewPr>
      <p:scale>
        <a:sx n="75" d="100"/>
        <a:sy n="75" d="100"/>
      </p:scale>
      <p:origin x="0" y="0"/>
    </p:cViewPr>
  </p:notesTextViewPr>
  <p:sorterViewPr>
    <p:cViewPr>
      <p:scale>
        <a:sx n="66" d="100"/>
        <a:sy n="66" d="100"/>
      </p:scale>
      <p:origin x="0" y="0"/>
    </p:cViewPr>
  </p:sorterViewPr>
  <p:notesViewPr>
    <p:cSldViewPr snapToGrid="0" snapToObjects="1" showGuides="1">
      <p:cViewPr varScale="1">
        <p:scale>
          <a:sx n="79" d="100"/>
          <a:sy n="79" d="100"/>
        </p:scale>
        <p:origin x="-376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commentAuthors" Target="commentAuthors.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9/30/25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9/30/25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A1A87D-CAF7-4BDC-A0D3-C0DBEDE81619}" type="slidenum">
              <a:rPr lang="en-US" smtClean="0"/>
              <a:pPr/>
              <a:t>1</a:t>
            </a:fld>
            <a:endParaRPr lang="en-US" dirty="0"/>
          </a:p>
        </p:txBody>
      </p:sp>
    </p:spTree>
    <p:extLst>
      <p:ext uri="{BB962C8B-B14F-4D97-AF65-F5344CB8AC3E}">
        <p14:creationId xmlns:p14="http://schemas.microsoft.com/office/powerpoint/2010/main" val="10914726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6x48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59674" y="6378481"/>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77827"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77825"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11460161"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460162"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385343"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377404" y="5548749"/>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33390292" y="5548749"/>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33390292" y="6378481"/>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3390292"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33390292"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390292"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3390292" y="26433446"/>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59674" y="14951552"/>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guide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59674" y="6378481"/>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77827"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77825"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11460161"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460162"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385343"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377404" y="5548749"/>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33390292" y="5548749"/>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33390292" y="6378481"/>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3390292"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33390292"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390292"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3390292" y="26433446"/>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59674" y="14951552"/>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438864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 Box 14"/>
          <p:cNvSpPr txBox="1">
            <a:spLocks noChangeArrowheads="1"/>
          </p:cNvSpPr>
          <p:nvPr/>
        </p:nvSpPr>
        <p:spPr bwMode="auto">
          <a:xfrm>
            <a:off x="1567305" y="32390910"/>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graphicFrame>
        <p:nvGraphicFramePr>
          <p:cNvPr id="3" name="Table 2">
            <a:extLst>
              <a:ext uri="{FF2B5EF4-FFF2-40B4-BE49-F238E27FC236}">
                <a16:creationId xmlns:a16="http://schemas.microsoft.com/office/drawing/2014/main" id="{AF9AA5EE-77AD-9645-B396-F73887C4B6FD}"/>
              </a:ext>
            </a:extLst>
          </p:cNvPr>
          <p:cNvGraphicFramePr>
            <a:graphicFrameLocks noGrp="1"/>
          </p:cNvGraphicFramePr>
          <p:nvPr userDrawn="1">
            <p:extLst>
              <p:ext uri="{D42A27DB-BD31-4B8C-83A1-F6EECF244321}">
                <p14:modId xmlns:p14="http://schemas.microsoft.com/office/powerpoint/2010/main" val="846862511"/>
              </p:ext>
            </p:extLst>
          </p:nvPr>
        </p:nvGraphicFramePr>
        <p:xfrm>
          <a:off x="-10611120" y="14098"/>
          <a:ext cx="9776869" cy="32679220"/>
        </p:xfrm>
        <a:graphic>
          <a:graphicData uri="http://schemas.openxmlformats.org/drawingml/2006/table">
            <a:tbl>
              <a:tblPr firstRow="1" bandRow="1">
                <a:tableStyleId>{5C22544A-7EE6-4342-B048-85BDC9FD1C3A}</a:tableStyleId>
              </a:tblPr>
              <a:tblGrid>
                <a:gridCol w="4192245">
                  <a:extLst>
                    <a:ext uri="{9D8B030D-6E8A-4147-A177-3AD203B41FA5}">
                      <a16:colId xmlns:a16="http://schemas.microsoft.com/office/drawing/2014/main" val="20000"/>
                    </a:ext>
                  </a:extLst>
                </a:gridCol>
                <a:gridCol w="5584624">
                  <a:extLst>
                    <a:ext uri="{9D8B030D-6E8A-4147-A177-3AD203B41FA5}">
                      <a16:colId xmlns:a16="http://schemas.microsoft.com/office/drawing/2014/main" val="20001"/>
                    </a:ext>
                  </a:extLst>
                </a:gridCol>
              </a:tblGrid>
              <a:tr h="1329113">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600" b="0" spc="600" dirty="0">
                          <a:solidFill>
                            <a:srgbClr val="1F3A4E"/>
                          </a:solidFill>
                          <a:latin typeface="Arial Black" panose="020B0A04020102020204" pitchFamily="34" charset="0"/>
                        </a:rPr>
                        <a:t>QUICK START GUIDE</a:t>
                      </a:r>
                      <a:br>
                        <a:rPr lang="en-US" sz="3600" b="0" spc="600" dirty="0">
                          <a:solidFill>
                            <a:srgbClr val="1F3A4E"/>
                          </a:solidFill>
                          <a:latin typeface="Arial Black" panose="020B0A04020102020204" pitchFamily="34" charset="0"/>
                        </a:rPr>
                      </a:br>
                      <a:r>
                        <a:rPr lang="en-US" sz="2800" b="1" spc="0" dirty="0">
                          <a:solidFill>
                            <a:srgbClr val="FF0000"/>
                          </a:solidFill>
                          <a:latin typeface="Trebuchet MS" pitchFamily="34" charset="0"/>
                        </a:rPr>
                        <a:t>(THIS SIDEBAR WILL NOT PRINT)</a:t>
                      </a:r>
                      <a:endParaRPr lang="en-US" sz="36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206624">
                <a:tc gridSpan="2">
                  <a:txBody>
                    <a:bodyPr/>
                    <a:lstStyle/>
                    <a:p>
                      <a:pPr defTabSz="3765639"/>
                      <a:r>
                        <a:rPr lang="en-US" sz="2000" i="0" dirty="0">
                          <a:solidFill>
                            <a:srgbClr val="D9D9D9"/>
                          </a:solidFill>
                          <a:latin typeface="Arial"/>
                          <a:cs typeface="Arial"/>
                        </a:rPr>
                        <a:t>This PowerPoint template produces a </a:t>
                      </a:r>
                      <a:r>
                        <a:rPr lang="en-US" sz="2000" i="0" dirty="0">
                          <a:solidFill>
                            <a:srgbClr val="FFC000"/>
                          </a:solidFill>
                          <a:latin typeface="Arial"/>
                          <a:cs typeface="Arial"/>
                        </a:rPr>
                        <a:t>36"x48" </a:t>
                      </a:r>
                      <a:r>
                        <a:rPr lang="en-US" sz="20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the  </a:t>
                      </a:r>
                      <a:r>
                        <a:rPr lang="en-US" sz="2000" i="0" dirty="0">
                          <a:solidFill>
                            <a:srgbClr val="FFC000"/>
                          </a:solidFill>
                          <a:latin typeface="Arial"/>
                          <a:cs typeface="Arial"/>
                        </a:rPr>
                        <a:t>HELP DESK</a:t>
                      </a:r>
                      <a:r>
                        <a:rPr lang="en-US" sz="2000" i="0" baseline="0" dirty="0">
                          <a:solidFill>
                            <a:srgbClr val="D9D9D9"/>
                          </a:solidFill>
                          <a:latin typeface="Arial"/>
                          <a:cs typeface="Arial"/>
                        </a:rPr>
                        <a:t> </a:t>
                      </a:r>
                      <a:r>
                        <a:rPr lang="en-US" sz="2000" i="0" dirty="0">
                          <a:solidFill>
                            <a:srgbClr val="D9D9D9"/>
                          </a:solidFill>
                          <a:latin typeface="Arial"/>
                          <a:cs typeface="Arial"/>
                        </a:rPr>
                        <a:t>tab.</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To print your poster using our same-day professional printing service,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a:t>
                      </a:r>
                      <a:r>
                        <a:rPr lang="en-US" sz="2000" i="0" dirty="0">
                          <a:solidFill>
                            <a:srgbClr val="FFC000"/>
                          </a:solidFill>
                          <a:latin typeface="Arial"/>
                          <a:cs typeface="Arial"/>
                        </a:rPr>
                        <a:t>Order your poster</a:t>
                      </a:r>
                      <a:r>
                        <a:rPr lang="en-US" sz="2000" i="0" dirty="0">
                          <a:solidFill>
                            <a:srgbClr val="D9D9D9"/>
                          </a:solidFill>
                          <a:latin typeface="Arial"/>
                          <a:cs typeface="Arial"/>
                        </a:rPr>
                        <a:t>".</a:t>
                      </a:r>
                      <a:endParaRPr lang="en-US" sz="20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4572417">
                <a:tc>
                  <a:txBody>
                    <a:bodyPr/>
                    <a:lstStyle/>
                    <a:p>
                      <a:pPr algn="ctr"/>
                      <a:endParaRPr lang="en-US" sz="2000" dirty="0">
                        <a:solidFill>
                          <a:srgbClr val="1F3A4E"/>
                        </a:solidFill>
                      </a:endParaRPr>
                    </a:p>
                    <a:p>
                      <a:pPr algn="ctr"/>
                      <a:endParaRPr lang="en-US" sz="2000" dirty="0">
                        <a:solidFill>
                          <a:srgbClr val="1F3A4E"/>
                        </a:solidFill>
                      </a:endParaRPr>
                    </a:p>
                    <a:p>
                      <a:pPr algn="ctr"/>
                      <a:r>
                        <a:rPr lang="en-US" sz="2000" dirty="0">
                          <a:solidFill>
                            <a:schemeClr val="bg1"/>
                          </a:solidFill>
                          <a:latin typeface="Arial" panose="020B0604020202020204" pitchFamily="34" charset="0"/>
                          <a:cs typeface="Arial" panose="020B0604020202020204" pitchFamily="34" charset="0"/>
                        </a:rPr>
                        <a:t>This is a template for a </a:t>
                      </a:r>
                    </a:p>
                    <a:p>
                      <a:pPr algn="ctr"/>
                      <a:r>
                        <a:rPr lang="en-US" sz="2000" dirty="0">
                          <a:solidFill>
                            <a:schemeClr val="bg1"/>
                          </a:solidFill>
                          <a:latin typeface="Arial" panose="020B0604020202020204" pitchFamily="34" charset="0"/>
                          <a:cs typeface="Arial" panose="020B0604020202020204" pitchFamily="34" charset="0"/>
                        </a:rPr>
                        <a:t>presentation poster</a:t>
                      </a:r>
                      <a:br>
                        <a:rPr lang="en-US" sz="2000" dirty="0">
                          <a:solidFill>
                            <a:schemeClr val="bg1"/>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36 inches tall</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by</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48 inches wide</a:t>
                      </a:r>
                      <a:br>
                        <a:rPr lang="en-US" sz="2000" dirty="0">
                          <a:solidFill>
                            <a:schemeClr val="bg1"/>
                          </a:solidFill>
                          <a:latin typeface="Arial" panose="020B0604020202020204" pitchFamily="34" charset="0"/>
                          <a:cs typeface="Arial" panose="020B0604020202020204" pitchFamily="34" charset="0"/>
                        </a:rPr>
                      </a:br>
                      <a:endParaRPr lang="en-US" sz="20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Important: Check the template size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30 tall x 40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42 tall x 56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48 tall x 64 wide</a:t>
                      </a:r>
                    </a:p>
                  </a:txBody>
                  <a:tcPr marL="182880" marT="137160">
                    <a:solidFill>
                      <a:srgbClr val="010101"/>
                    </a:solidFill>
                  </a:tcPr>
                </a:tc>
                <a:extLst>
                  <a:ext uri="{0D108BD9-81ED-4DB2-BD59-A6C34878D82A}">
                    <a16:rowId xmlns:a16="http://schemas.microsoft.com/office/drawing/2014/main" val="10008"/>
                  </a:ext>
                </a:extLst>
              </a:tr>
              <a:tr h="4288692">
                <a:tc>
                  <a:txBody>
                    <a:bodyPr/>
                    <a:lstStyle/>
                    <a:p>
                      <a:endParaRPr lang="en-US" sz="2000" dirty="0">
                        <a:solidFill>
                          <a:srgbClr val="1F3A4E"/>
                        </a:solidFill>
                      </a:endParaRPr>
                    </a:p>
                  </a:txBody>
                  <a:tcPr>
                    <a:blipFill rotWithShape="1">
                      <a:blip r:embed="rId3"/>
                      <a:stretch>
                        <a:fillRect/>
                      </a:stretch>
                    </a:blipFill>
                  </a:tcPr>
                </a:tc>
                <a:tc>
                  <a:txBody>
                    <a:bodyPr/>
                    <a:lstStyle/>
                    <a:p>
                      <a:pPr algn="l"/>
                      <a:r>
                        <a:rPr lang="en-US" sz="2400" b="1" baseline="0" dirty="0">
                          <a:solidFill>
                            <a:srgbClr val="FFC000"/>
                          </a:solidFill>
                          <a:latin typeface="Arial" panose="020B0604020202020204" pitchFamily="34" charset="0"/>
                          <a:cs typeface="Arial" panose="020B0604020202020204" pitchFamily="34" charset="0"/>
                        </a:rPr>
                        <a:t>How to </a:t>
                      </a:r>
                      <a:r>
                        <a:rPr lang="en-US" sz="4000" b="1" baseline="0" dirty="0">
                          <a:solidFill>
                            <a:srgbClr val="FFC000"/>
                          </a:solidFill>
                          <a:latin typeface="Arial" panose="020B0604020202020204" pitchFamily="34" charset="0"/>
                          <a:cs typeface="Arial" panose="020B0604020202020204" pitchFamily="34" charset="0"/>
                        </a:rPr>
                        <a:t>Zoom in </a:t>
                      </a:r>
                      <a:r>
                        <a:rPr lang="en-US" sz="2400" b="1" baseline="0" dirty="0">
                          <a:solidFill>
                            <a:srgbClr val="FFC000"/>
                          </a:solidFill>
                          <a:latin typeface="Arial" panose="020B0604020202020204" pitchFamily="34" charset="0"/>
                          <a:cs typeface="Arial" panose="020B0604020202020204" pitchFamily="34" charset="0"/>
                        </a:rPr>
                        <a:t>and </a:t>
                      </a:r>
                      <a:r>
                        <a:rPr lang="en-US" sz="1800" b="1" baseline="0" dirty="0">
                          <a:solidFill>
                            <a:srgbClr val="FFC000"/>
                          </a:solidFill>
                          <a:latin typeface="Arial" panose="020B0604020202020204" pitchFamily="34" charset="0"/>
                          <a:cs typeface="Arial" panose="020B0604020202020204" pitchFamily="34" charset="0"/>
                        </a:rPr>
                        <a:t>out</a:t>
                      </a:r>
                      <a:endParaRPr lang="en-US" sz="2400" b="1" baseline="0" dirty="0">
                        <a:solidFill>
                          <a:srgbClr val="FFC000"/>
                        </a:solidFill>
                        <a:latin typeface="Arial" panose="020B0604020202020204" pitchFamily="34" charset="0"/>
                        <a:cs typeface="Arial" panose="020B0604020202020204" pitchFamily="34" charset="0"/>
                      </a:endParaRPr>
                    </a:p>
                    <a:p>
                      <a:pPr algn="l"/>
                      <a:r>
                        <a:rPr lang="en-US" sz="20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1. </a:t>
                      </a:r>
                      <a:r>
                        <a:rPr lang="en-US" sz="20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2. </a:t>
                      </a:r>
                      <a:r>
                        <a:rPr lang="en-US" sz="20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1800526">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Ruler and Guides</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3824339">
                <a:tc>
                  <a:txBody>
                    <a:bodyPr/>
                    <a:lstStyle/>
                    <a:p>
                      <a:endParaRPr lang="en-US" sz="2000" dirty="0">
                        <a:solidFill>
                          <a:srgbClr val="1F3A4E"/>
                        </a:solidFill>
                      </a:endParaRPr>
                    </a:p>
                  </a:txBody>
                  <a:tcPr>
                    <a:blipFill rotWithShape="1">
                      <a:blip r:embed="rId4"/>
                      <a:stretch>
                        <a:fillRect/>
                      </a:stretch>
                    </a:blipFill>
                  </a:tcPr>
                </a:tc>
                <a:tc>
                  <a:txBody>
                    <a:bodyPr/>
                    <a:lstStyle/>
                    <a:p>
                      <a:pPr marL="0" lvl="1" indent="0" algn="l" defTabSz="114300"/>
                      <a:r>
                        <a:rPr lang="en-US" sz="2400" b="1" baseline="0" dirty="0">
                          <a:solidFill>
                            <a:srgbClr val="FFC000"/>
                          </a:solidFill>
                          <a:latin typeface="Arial" panose="020B0604020202020204" pitchFamily="34" charset="0"/>
                          <a:cs typeface="Arial" panose="020B0604020202020204" pitchFamily="34" charset="0"/>
                        </a:rPr>
                        <a:t>Headers and text containers</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519135">
                <a:tc gridSpan="2">
                  <a:txBody>
                    <a:bodyPr/>
                    <a:lstStyle/>
                    <a:p>
                      <a:r>
                        <a:rPr lang="en-US" sz="2400" b="1" dirty="0">
                          <a:solidFill>
                            <a:srgbClr val="FFC000"/>
                          </a:solidFill>
                          <a:latin typeface="Arial" panose="020B0604020202020204" pitchFamily="34" charset="0"/>
                          <a:cs typeface="Arial" panose="020B0604020202020204" pitchFamily="34" charset="0"/>
                        </a:rPr>
                        <a:t>Adding content to the poster</a:t>
                      </a:r>
                    </a:p>
                    <a:p>
                      <a:r>
                        <a:rPr lang="en-US" sz="20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0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0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37765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93170">
                <a:tc gridSpan="2">
                  <a:txBody>
                    <a:bodyPr/>
                    <a:lstStyle/>
                    <a:p>
                      <a:endParaRPr lang="en-US" sz="20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28027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0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187270">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4" name="Table 3">
            <a:extLst>
              <a:ext uri="{FF2B5EF4-FFF2-40B4-BE49-F238E27FC236}">
                <a16:creationId xmlns:a16="http://schemas.microsoft.com/office/drawing/2014/main" id="{6338BD29-2BD7-AB47-B9B8-5033641D7C2D}"/>
              </a:ext>
            </a:extLst>
          </p:cNvPr>
          <p:cNvGraphicFramePr>
            <a:graphicFrameLocks noGrp="1"/>
          </p:cNvGraphicFramePr>
          <p:nvPr userDrawn="1">
            <p:extLst>
              <p:ext uri="{D42A27DB-BD31-4B8C-83A1-F6EECF244321}">
                <p14:modId xmlns:p14="http://schemas.microsoft.com/office/powerpoint/2010/main" val="336852881"/>
              </p:ext>
            </p:extLst>
          </p:nvPr>
        </p:nvGraphicFramePr>
        <p:xfrm>
          <a:off x="44695229" y="-84749"/>
          <a:ext cx="9430188" cy="33075070"/>
        </p:xfrm>
        <a:graphic>
          <a:graphicData uri="http://schemas.openxmlformats.org/drawingml/2006/table">
            <a:tbl>
              <a:tblPr firstRow="1" bandRow="1">
                <a:tableStyleId>{5C22544A-7EE6-4342-B048-85BDC9FD1C3A}</a:tableStyleId>
              </a:tblPr>
              <a:tblGrid>
                <a:gridCol w="3343835">
                  <a:extLst>
                    <a:ext uri="{9D8B030D-6E8A-4147-A177-3AD203B41FA5}">
                      <a16:colId xmlns:a16="http://schemas.microsoft.com/office/drawing/2014/main" val="20000"/>
                    </a:ext>
                  </a:extLst>
                </a:gridCol>
                <a:gridCol w="1381559">
                  <a:extLst>
                    <a:ext uri="{9D8B030D-6E8A-4147-A177-3AD203B41FA5}">
                      <a16:colId xmlns:a16="http://schemas.microsoft.com/office/drawing/2014/main" val="997673227"/>
                    </a:ext>
                  </a:extLst>
                </a:gridCol>
                <a:gridCol w="4704794">
                  <a:extLst>
                    <a:ext uri="{9D8B030D-6E8A-4147-A177-3AD203B41FA5}">
                      <a16:colId xmlns:a16="http://schemas.microsoft.com/office/drawing/2014/main" val="4164475170"/>
                    </a:ext>
                  </a:extLst>
                </a:gridCol>
              </a:tblGrid>
              <a:tr h="1756432">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63101">
                <a:tc gridSpan="3">
                  <a:txBody>
                    <a:bodyPr/>
                    <a:lstStyle/>
                    <a:p>
                      <a:pPr algn="l"/>
                      <a:r>
                        <a:rPr lang="en-US" sz="28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8"/>
                      <a:stretch>
                        <a:fillRect/>
                      </a:stretch>
                    </a:blipFill>
                  </a:tcPr>
                </a:tc>
                <a:tc hMerge="1">
                  <a:txBody>
                    <a:bodyPr/>
                    <a:lstStyle/>
                    <a:p>
                      <a:endParaRPr lang="en-US"/>
                    </a:p>
                  </a:txBody>
                  <a:tcPr/>
                </a:tc>
                <a:extLst>
                  <a:ext uri="{0D108BD9-81ED-4DB2-BD59-A6C34878D82A}">
                    <a16:rowId xmlns:a16="http://schemas.microsoft.com/office/drawing/2014/main" val="10001"/>
                  </a:ext>
                </a:extLst>
              </a:tr>
              <a:tr h="3667719">
                <a:tc gridSpan="3">
                  <a:txBody>
                    <a:bodyPr/>
                    <a:lstStyle/>
                    <a:p>
                      <a:r>
                        <a:rPr lang="en-US" sz="2800" b="1" dirty="0">
                          <a:solidFill>
                            <a:srgbClr val="FFC000"/>
                          </a:solidFill>
                          <a:latin typeface="Arial" panose="020B0604020202020204" pitchFamily="34" charset="0"/>
                          <a:cs typeface="Arial" panose="020B0604020202020204" pitchFamily="34" charset="0"/>
                        </a:rPr>
                        <a:t>How to change the column layout configuration</a:t>
                      </a:r>
                    </a:p>
                    <a:p>
                      <a:r>
                        <a:rPr lang="en-US" sz="24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dirty="0">
                          <a:solidFill>
                            <a:srgbClr val="D9D9D9"/>
                          </a:solidFill>
                          <a:latin typeface="Arial" panose="020B0604020202020204" pitchFamily="34" charset="0"/>
                          <a:cs typeface="Arial" panose="020B0604020202020204" pitchFamily="34" charset="0"/>
                        </a:rPr>
                        <a:t>You can see a tutorial here: </a:t>
                      </a:r>
                      <a:r>
                        <a:rPr lang="en-US" sz="2400" u="sng" dirty="0">
                          <a:solidFill>
                            <a:srgbClr val="FFC000"/>
                          </a:solidFill>
                          <a:latin typeface="Arial" panose="020B0604020202020204" pitchFamily="34" charset="0"/>
                          <a:cs typeface="Arial" panose="020B0604020202020204" pitchFamily="34" charset="0"/>
                        </a:rPr>
                        <a:t>https://</a:t>
                      </a:r>
                      <a:r>
                        <a:rPr lang="en-US" sz="2400" u="sng" dirty="0" err="1">
                          <a:solidFill>
                            <a:srgbClr val="FFC000"/>
                          </a:solidFill>
                          <a:latin typeface="Arial" panose="020B0604020202020204" pitchFamily="34" charset="0"/>
                          <a:cs typeface="Arial" panose="020B0604020202020204" pitchFamily="34" charset="0"/>
                        </a:rPr>
                        <a:t>www.posterpresentations.com</a:t>
                      </a:r>
                      <a:r>
                        <a:rPr lang="en-US" sz="2400" u="sng" dirty="0">
                          <a:solidFill>
                            <a:srgbClr val="FFC000"/>
                          </a:solidFill>
                          <a:latin typeface="Arial" panose="020B0604020202020204" pitchFamily="34" charset="0"/>
                          <a:cs typeface="Arial" panose="020B0604020202020204" pitchFamily="34" charset="0"/>
                        </a:rPr>
                        <a:t>/how-to-change-the-column-</a:t>
                      </a:r>
                      <a:r>
                        <a:rPr lang="en-US" sz="2400" u="sng" dirty="0" err="1">
                          <a:solidFill>
                            <a:srgbClr val="FFC000"/>
                          </a:solidFill>
                          <a:latin typeface="Arial" panose="020B0604020202020204" pitchFamily="34" charset="0"/>
                          <a:cs typeface="Arial" panose="020B0604020202020204" pitchFamily="34" charset="0"/>
                        </a:rPr>
                        <a:t>configuration.html</a:t>
                      </a:r>
                      <a:endParaRPr lang="en-US" u="sng" dirty="0">
                        <a:solidFill>
                          <a:srgbClr val="FFC000"/>
                        </a:solidFill>
                      </a:endParaRP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9"/>
                      <a:stretch>
                        <a:fillRect/>
                      </a:stretch>
                    </a:blipFill>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5177074">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row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To hide the guides click on the </a:t>
                      </a:r>
                      <a:r>
                        <a:rPr lang="en-US" sz="2400" b="1" baseline="0" noProof="0" dirty="0">
                          <a:solidFill>
                            <a:srgbClr val="D9D9D9"/>
                          </a:solidFill>
                          <a:latin typeface="Arial" panose="020B0604020202020204" pitchFamily="34" charset="0"/>
                          <a:cs typeface="Arial" panose="020B0604020202020204" pitchFamily="34" charset="0"/>
                        </a:rPr>
                        <a:t>Home</a:t>
                      </a:r>
                      <a:r>
                        <a:rPr lang="en-US" sz="24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dirty="0">
                          <a:solidFill>
                            <a:srgbClr val="D9D9D9"/>
                          </a:solidFill>
                          <a:latin typeface="Arial" panose="020B0604020202020204" pitchFamily="34" charset="0"/>
                          <a:cs typeface="Arial" panose="020B0604020202020204" pitchFamily="34" charset="0"/>
                        </a:rPr>
                        <a:t>Without Guides </a:t>
                      </a:r>
                      <a:r>
                        <a:rPr lang="en-US" sz="2400" b="0"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a:t>
                      </a:r>
                      <a:endParaRPr lang="en-US" sz="24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288832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766341567"/>
                  </a:ext>
                </a:extLst>
              </a:tr>
              <a:tr h="3781426">
                <a:tc gridSpan="2">
                  <a:txBody>
                    <a:bodyPr/>
                    <a:lstStyle/>
                    <a:p>
                      <a:r>
                        <a:rPr lang="en-US" sz="2800" b="1" dirty="0">
                          <a:solidFill>
                            <a:srgbClr val="FFC000"/>
                          </a:solidFill>
                          <a:latin typeface="Arial" panose="020B0604020202020204" pitchFamily="34" charset="0"/>
                          <a:cs typeface="Arial" panose="020B0604020202020204" pitchFamily="34" charset="0"/>
                        </a:rPr>
                        <a:t>How to</a:t>
                      </a:r>
                      <a:r>
                        <a:rPr lang="en-US" sz="2800" b="1" baseline="0" dirty="0">
                          <a:solidFill>
                            <a:srgbClr val="FFC000"/>
                          </a:solidFill>
                          <a:latin typeface="Arial" panose="020B0604020202020204" pitchFamily="34" charset="0"/>
                          <a:cs typeface="Arial" panose="020B0604020202020204" pitchFamily="34" charset="0"/>
                        </a:rPr>
                        <a:t> preview your poster prior to printing</a:t>
                      </a:r>
                      <a:endParaRPr lang="en-US" sz="2800" b="1" dirty="0">
                        <a:solidFill>
                          <a:srgbClr val="FFC000"/>
                        </a:solidFill>
                        <a:latin typeface="Arial" panose="020B0604020202020204" pitchFamily="34" charset="0"/>
                        <a:cs typeface="Arial" panose="020B0604020202020204" pitchFamily="34" charset="0"/>
                      </a:endParaRPr>
                    </a:p>
                    <a:p>
                      <a:r>
                        <a:rPr lang="en-US" sz="2400" dirty="0">
                          <a:solidFill>
                            <a:srgbClr val="D9D9D9"/>
                          </a:solidFill>
                          <a:latin typeface="Arial" panose="020B0604020202020204" pitchFamily="34" charset="0"/>
                          <a:cs typeface="Arial" panose="020B0604020202020204" pitchFamily="34" charset="0"/>
                        </a:rPr>
                        <a:t>You can preview your poster at any time by pressing the </a:t>
                      </a:r>
                      <a:r>
                        <a:rPr lang="en-US" sz="2400" dirty="0">
                          <a:solidFill>
                            <a:srgbClr val="FFC000"/>
                          </a:solidFill>
                          <a:latin typeface="Arial" panose="020B0604020202020204" pitchFamily="34" charset="0"/>
                          <a:cs typeface="Arial" panose="020B0604020202020204" pitchFamily="34" charset="0"/>
                        </a:rPr>
                        <a:t>F5 key</a:t>
                      </a:r>
                      <a:r>
                        <a:rPr lang="en-US" sz="24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dirty="0">
                          <a:solidFill>
                            <a:srgbClr val="FFC000"/>
                          </a:solidFill>
                          <a:latin typeface="Arial" panose="020B0604020202020204" pitchFamily="34" charset="0"/>
                          <a:cs typeface="Arial" panose="020B0604020202020204" pitchFamily="34" charset="0"/>
                        </a:rPr>
                        <a:t>ESC key </a:t>
                      </a:r>
                      <a:r>
                        <a:rPr lang="en-US" sz="24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hMerge="1">
                  <a:txBody>
                    <a:bodyPr/>
                    <a:lstStyle/>
                    <a:p>
                      <a:endParaRPr lang="en-US"/>
                    </a:p>
                  </a:txBody>
                  <a:tcPr/>
                </a:tc>
                <a:tc>
                  <a:txBody>
                    <a:bodyPr/>
                    <a:lstStyle/>
                    <a:p>
                      <a:pPr algn="ctr"/>
                      <a:r>
                        <a:rPr lang="en-US" sz="11500" b="1" dirty="0">
                          <a:solidFill>
                            <a:srgbClr val="D9D9D9"/>
                          </a:solidFill>
                          <a:latin typeface="Arial" panose="020B0604020202020204" pitchFamily="34" charset="0"/>
                          <a:cs typeface="Arial" panose="020B0604020202020204" pitchFamily="34" charset="0"/>
                        </a:rPr>
                        <a:t>F5</a:t>
                      </a:r>
                      <a:r>
                        <a:rPr lang="en-US" sz="2400" baseline="0" dirty="0">
                          <a:solidFill>
                            <a:srgbClr val="D9D9D9"/>
                          </a:solidFill>
                          <a:latin typeface="Arial" panose="020B0604020202020204" pitchFamily="34" charset="0"/>
                          <a:cs typeface="Arial" panose="020B0604020202020204" pitchFamily="34" charset="0"/>
                        </a:rPr>
                        <a:t> </a:t>
                      </a:r>
                      <a:endParaRPr lang="en-US"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5674009">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When you are ready to have your poster printed go online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and click on the "</a:t>
                      </a:r>
                      <a:r>
                        <a:rPr lang="en-US" sz="2400" noProof="0" dirty="0">
                          <a:solidFill>
                            <a:srgbClr val="FFC000"/>
                          </a:solidFill>
                          <a:latin typeface="Arial"/>
                          <a:cs typeface="Arial"/>
                        </a:rPr>
                        <a:t>Order Your Poster</a:t>
                      </a:r>
                      <a:r>
                        <a:rPr lang="en-US" sz="24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2400" noProof="0" dirty="0">
                          <a:solidFill>
                            <a:srgbClr val="D9D9D9"/>
                          </a:solidFill>
                          <a:latin typeface="Arial"/>
                          <a:cs typeface="Arial"/>
                        </a:rPr>
                      </a:br>
                      <a:r>
                        <a:rPr lang="en-US" sz="2400" noProof="0" dirty="0">
                          <a:solidFill>
                            <a:srgbClr val="D9D9D9"/>
                          </a:solidFill>
                          <a:latin typeface="Arial"/>
                          <a:cs typeface="Arial"/>
                        </a:rPr>
                        <a:t>Go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354778">
                <a:tc gridSpan="3">
                  <a:txBody>
                    <a:bodyPr/>
                    <a:lstStyle/>
                    <a:p>
                      <a:endParaRPr lang="en-US" sz="2400" dirty="0">
                        <a:solidFill>
                          <a:srgbClr val="1F3A4E"/>
                        </a:solidFill>
                      </a:endParaRPr>
                    </a:p>
                  </a:txBody>
                  <a:tcPr marL="182880" marT="137160">
                    <a:blipFill dpi="0" rotWithShape="1">
                      <a:blip r:embed="rId11">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3212204">
                <a:tc>
                  <a:txBody>
                    <a:bodyPr/>
                    <a:lstStyle/>
                    <a:p>
                      <a:pPr>
                        <a:lnSpc>
                          <a:spcPts val="2600"/>
                        </a:lnSpc>
                      </a:pPr>
                      <a:r>
                        <a:rPr lang="en-US" sz="2000" dirty="0">
                          <a:solidFill>
                            <a:schemeClr val="bg1">
                              <a:lumMod val="85000"/>
                            </a:schemeClr>
                          </a:solidFill>
                          <a:latin typeface="Arial"/>
                          <a:cs typeface="Arial"/>
                        </a:rPr>
                        <a:t>© 2019</a:t>
                      </a:r>
                      <a:r>
                        <a:rPr lang="en-US" sz="2000" baseline="0" dirty="0">
                          <a:solidFill>
                            <a:schemeClr val="bg1">
                              <a:lumMod val="85000"/>
                            </a:schemeClr>
                          </a:solidFill>
                          <a:latin typeface="Arial"/>
                          <a:cs typeface="Arial"/>
                        </a:rPr>
                        <a:t> </a:t>
                      </a:r>
                      <a:r>
                        <a:rPr lang="en-US" sz="2000" dirty="0" err="1">
                          <a:solidFill>
                            <a:schemeClr val="bg1">
                              <a:lumMod val="85000"/>
                            </a:schemeClr>
                          </a:solidFill>
                          <a:latin typeface="Arial"/>
                          <a:cs typeface="Arial"/>
                        </a:rPr>
                        <a:t>PosterPresentations.com</a:t>
                      </a:r>
                      <a:br>
                        <a:rPr lang="en-US" sz="2000" dirty="0">
                          <a:solidFill>
                            <a:schemeClr val="bg1">
                              <a:lumMod val="85000"/>
                            </a:schemeClr>
                          </a:solidFill>
                          <a:latin typeface="Arial"/>
                          <a:cs typeface="Arial"/>
                        </a:rPr>
                      </a:br>
                      <a:r>
                        <a:rPr lang="en-US" sz="2000" dirty="0">
                          <a:solidFill>
                            <a:schemeClr val="bg1">
                              <a:lumMod val="85000"/>
                            </a:schemeClr>
                          </a:solidFill>
                          <a:latin typeface="Arial"/>
                          <a:cs typeface="Arial"/>
                        </a:rPr>
                        <a:t>2117 Fourth Street ,</a:t>
                      </a:r>
                      <a:r>
                        <a:rPr lang="en-US" sz="2000" baseline="0" dirty="0">
                          <a:solidFill>
                            <a:schemeClr val="bg1">
                              <a:lumMod val="85000"/>
                            </a:schemeClr>
                          </a:solidFill>
                          <a:latin typeface="Arial"/>
                          <a:cs typeface="Arial"/>
                        </a:rPr>
                        <a:t> STE C        </a:t>
                      </a:r>
                    </a:p>
                    <a:p>
                      <a:pPr>
                        <a:lnSpc>
                          <a:spcPts val="2600"/>
                        </a:lnSpc>
                      </a:pPr>
                      <a:r>
                        <a:rPr lang="en-US" sz="2000" baseline="0" dirty="0">
                          <a:solidFill>
                            <a:schemeClr val="bg1">
                              <a:lumMod val="85000"/>
                            </a:schemeClr>
                          </a:solidFill>
                          <a:latin typeface="Arial"/>
                          <a:cs typeface="Arial"/>
                        </a:rPr>
                        <a:t>Berkeley CA 94710 USA</a:t>
                      </a:r>
                      <a:endParaRPr lang="en-US" sz="2000" dirty="0">
                        <a:solidFill>
                          <a:schemeClr val="bg1">
                            <a:lumMod val="85000"/>
                          </a:schemeClr>
                        </a:solidFill>
                        <a:latin typeface="Arial"/>
                        <a:cs typeface="Arial"/>
                      </a:endParaRPr>
                    </a:p>
                  </a:txBody>
                  <a:tcPr marL="182880" marT="137160">
                    <a:solidFill>
                      <a:srgbClr val="010101"/>
                    </a:solidFill>
                  </a:tcPr>
                </a:tc>
                <a:tc gridSpan="2">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dirty="0">
                          <a:solidFill>
                            <a:srgbClr val="D0D0D0"/>
                          </a:solidFill>
                          <a:latin typeface="Arial"/>
                          <a:cs typeface="Arial"/>
                        </a:rPr>
                        <a:t>For complete tutorials</a:t>
                      </a:r>
                      <a:r>
                        <a:rPr lang="en-US" sz="24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Arial"/>
                          <a:cs typeface="Arial"/>
                        </a:rPr>
                        <a:t>https://</a:t>
                      </a:r>
                      <a:r>
                        <a:rPr lang="en-US" sz="1800" b="1" dirty="0" err="1">
                          <a:solidFill>
                            <a:srgbClr val="FFC000"/>
                          </a:solidFill>
                          <a:latin typeface="Arial"/>
                          <a:cs typeface="Arial"/>
                        </a:rPr>
                        <a:t>www.posterpresentations.com</a:t>
                      </a:r>
                      <a:r>
                        <a:rPr lang="en-US" sz="1800" b="1" dirty="0">
                          <a:solidFill>
                            <a:srgbClr val="FFC000"/>
                          </a:solidFill>
                          <a:latin typeface="Arial"/>
                          <a:cs typeface="Arial"/>
                        </a:rPr>
                        <a:t>/</a:t>
                      </a:r>
                      <a:r>
                        <a:rPr lang="en-US" sz="1800" b="1" dirty="0" err="1">
                          <a:solidFill>
                            <a:srgbClr val="FFC000"/>
                          </a:solidFill>
                          <a:latin typeface="Arial"/>
                          <a:cs typeface="Arial"/>
                        </a:rPr>
                        <a:t>helpdesk.html</a:t>
                      </a:r>
                      <a:endParaRPr lang="en-US" sz="1800" dirty="0">
                        <a:solidFill>
                          <a:schemeClr val="bg1">
                            <a:lumMod val="85000"/>
                          </a:schemeClr>
                        </a:solidFill>
                        <a:latin typeface="Arial"/>
                        <a:cs typeface="Arial"/>
                      </a:endParaRPr>
                    </a:p>
                  </a:txBody>
                  <a:tcPr marL="182880" marT="137160">
                    <a:solidFill>
                      <a:srgbClr val="010101"/>
                    </a:solidFill>
                  </a:tcPr>
                </a:tc>
                <a:tc hMerge="1">
                  <a:txBody>
                    <a:bodyPr/>
                    <a:lstStyle/>
                    <a:p>
                      <a:endParaRPr lang="en-US"/>
                    </a:p>
                  </a:txBody>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2"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 Box 14"/>
          <p:cNvSpPr txBox="1">
            <a:spLocks noChangeArrowheads="1"/>
          </p:cNvSpPr>
          <p:nvPr/>
        </p:nvSpPr>
        <p:spPr bwMode="auto">
          <a:xfrm>
            <a:off x="1567305" y="32390910"/>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extLst>
      <p:ext uri="{BB962C8B-B14F-4D97-AF65-F5344CB8AC3E}">
        <p14:creationId xmlns:p14="http://schemas.microsoft.com/office/powerpoint/2010/main" val="717728416"/>
      </p:ext>
    </p:extLst>
  </p:cSld>
  <p:clrMap bg1="lt1" tx1="dk1" bg2="lt2" tx2="dk2" accent1="accent1" accent2="accent2" accent3="accent3" accent4="accent4" accent5="accent5" accent6="accent6" hlink="hlink" folHlink="folHlink"/>
  <p:sldLayoutIdLst>
    <p:sldLayoutId id="2147483654"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4.emf"/><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jpeg"/><Relationship Id="rId12" Type="http://schemas.openxmlformats.org/officeDocument/2006/relationships/image" Target="../media/image18.svg"/><Relationship Id="rId2" Type="http://schemas.openxmlformats.org/officeDocument/2006/relationships/notesSlide" Target="../notesSlides/notesSlide1.xml"/><Relationship Id="rId16" Type="http://schemas.openxmlformats.org/officeDocument/2006/relationships/image" Target="../media/image22.emf"/><Relationship Id="rId1" Type="http://schemas.openxmlformats.org/officeDocument/2006/relationships/slideLayout" Target="../slideLayouts/slideLayout2.xml"/><Relationship Id="rId6" Type="http://schemas.openxmlformats.org/officeDocument/2006/relationships/image" Target="../media/image12.emf"/><Relationship Id="rId11" Type="http://schemas.openxmlformats.org/officeDocument/2006/relationships/image" Target="../media/image17.png"/><Relationship Id="rId5" Type="http://schemas.openxmlformats.org/officeDocument/2006/relationships/image" Target="../media/image11.emf"/><Relationship Id="rId15" Type="http://schemas.openxmlformats.org/officeDocument/2006/relationships/image" Target="../media/image21.emf"/><Relationship Id="rId10" Type="http://schemas.openxmlformats.org/officeDocument/2006/relationships/image" Target="../media/image16.emf"/><Relationship Id="rId4" Type="http://schemas.openxmlformats.org/officeDocument/2006/relationships/image" Target="../media/image10.png"/><Relationship Id="rId9" Type="http://schemas.openxmlformats.org/officeDocument/2006/relationships/image" Target="../media/image15.emf"/><Relationship Id="rId14" Type="http://schemas.openxmlformats.org/officeDocument/2006/relationships/image" Target="../media/image2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9F70FD1D-C0B7-7EE5-FF18-8E120A35CDBB}"/>
              </a:ext>
            </a:extLst>
          </p:cNvPr>
          <p:cNvSpPr>
            <a:spLocks noGrp="1"/>
          </p:cNvSpPr>
          <p:nvPr>
            <p:ph type="body" sz="quarter" idx="10"/>
          </p:nvPr>
        </p:nvSpPr>
        <p:spPr>
          <a:xfrm>
            <a:off x="459674" y="6378481"/>
            <a:ext cx="10771335" cy="11492355"/>
          </a:xfrm>
        </p:spPr>
        <p:txBody>
          <a:bodyPr/>
          <a:lstStyle/>
          <a:p>
            <a:pPr algn="just"/>
            <a:r>
              <a:rPr lang="en-US" sz="3200" dirty="0">
                <a:solidFill>
                  <a:schemeClr val="tx1"/>
                </a:solidFill>
              </a:rPr>
              <a:t>Modern research increasingly relies on diverse computing resources ranging from personal laptops and cloud VMs to institutional HPC clusters. Managing jobs across such heterogeneous systems is often complex, requiring significant setup and expertise. To address this challenge, we present </a:t>
            </a:r>
            <a:r>
              <a:rPr lang="en-US" sz="3200" b="1" dirty="0">
                <a:solidFill>
                  <a:schemeClr val="tx1"/>
                </a:solidFill>
              </a:rPr>
              <a:t>DART</a:t>
            </a:r>
            <a:r>
              <a:rPr lang="en-US" sz="3200" dirty="0">
                <a:solidFill>
                  <a:schemeClr val="tx1"/>
                </a:solidFill>
              </a:rPr>
              <a:t>, a lightweight, platform-agnostic job distributor designed for academic research.</a:t>
            </a:r>
          </a:p>
          <a:p>
            <a:pPr algn="just"/>
            <a:r>
              <a:rPr lang="en-US" sz="3200" b="1" dirty="0">
                <a:solidFill>
                  <a:schemeClr val="tx1"/>
                </a:solidFill>
              </a:rPr>
              <a:t>DART</a:t>
            </a:r>
            <a:r>
              <a:rPr lang="en-US" sz="3200" dirty="0">
                <a:solidFill>
                  <a:schemeClr val="tx1"/>
                </a:solidFill>
              </a:rPr>
              <a:t> emphasizes </a:t>
            </a:r>
            <a:r>
              <a:rPr lang="en-US" sz="3200" b="1" dirty="0">
                <a:solidFill>
                  <a:schemeClr val="tx1"/>
                </a:solidFill>
              </a:rPr>
              <a:t>simplicity, portability, and minimal configuration</a:t>
            </a:r>
            <a:r>
              <a:rPr lang="en-US" sz="3200" dirty="0">
                <a:solidFill>
                  <a:schemeClr val="tx1"/>
                </a:solidFill>
              </a:rPr>
              <a:t>, enabling seamless job submission, monitoring, and fault-tolerant rescheduling without the overhead of traditional orchestration frameworks. Unlike tools such as </a:t>
            </a:r>
            <a:r>
              <a:rPr lang="en-US" sz="3200" b="1" dirty="0" err="1">
                <a:solidFill>
                  <a:schemeClr val="tx1"/>
                </a:solidFill>
              </a:rPr>
              <a:t>Dask</a:t>
            </a:r>
            <a:r>
              <a:rPr lang="en-US" sz="3200" dirty="0">
                <a:solidFill>
                  <a:schemeClr val="tx1"/>
                </a:solidFill>
              </a:rPr>
              <a:t> or </a:t>
            </a:r>
            <a:r>
              <a:rPr lang="en-US" sz="3200" b="1" dirty="0" err="1">
                <a:solidFill>
                  <a:schemeClr val="tx1"/>
                </a:solidFill>
              </a:rPr>
              <a:t>HTCondor</a:t>
            </a:r>
            <a:r>
              <a:rPr lang="en-US" sz="3200" dirty="0">
                <a:solidFill>
                  <a:schemeClr val="tx1"/>
                </a:solidFill>
              </a:rPr>
              <a:t>, </a:t>
            </a:r>
            <a:r>
              <a:rPr lang="en-US" sz="3200" b="1" dirty="0">
                <a:solidFill>
                  <a:schemeClr val="tx1"/>
                </a:solidFill>
              </a:rPr>
              <a:t>DART</a:t>
            </a:r>
            <a:r>
              <a:rPr lang="en-US" sz="3200" dirty="0">
                <a:solidFill>
                  <a:schemeClr val="tx1"/>
                </a:solidFill>
              </a:rPr>
              <a:t> provides an intuitive interface and quick deployment using simple </a:t>
            </a:r>
            <a:r>
              <a:rPr lang="en-US" sz="3200" b="1" dirty="0">
                <a:solidFill>
                  <a:schemeClr val="tx1"/>
                </a:solidFill>
              </a:rPr>
              <a:t>JSON</a:t>
            </a:r>
            <a:r>
              <a:rPr lang="en-US" sz="3200" dirty="0">
                <a:solidFill>
                  <a:schemeClr val="tx1"/>
                </a:solidFill>
              </a:rPr>
              <a:t> configurations, making it especially suitable for researchers handling evolving workflows.</a:t>
            </a:r>
          </a:p>
          <a:p>
            <a:pPr algn="just"/>
            <a:r>
              <a:rPr lang="en-US" sz="3200" dirty="0">
                <a:solidFill>
                  <a:schemeClr val="tx1"/>
                </a:solidFill>
              </a:rPr>
              <a:t>In large-scale experiments with </a:t>
            </a:r>
            <a:r>
              <a:rPr lang="en-US" sz="3200" b="1" dirty="0">
                <a:solidFill>
                  <a:schemeClr val="tx1"/>
                </a:solidFill>
              </a:rPr>
              <a:t>37,720 jobs distributed over 68 heterogeneous machines</a:t>
            </a:r>
            <a:r>
              <a:rPr lang="en-US" sz="3200" dirty="0">
                <a:solidFill>
                  <a:schemeClr val="tx1"/>
                </a:solidFill>
              </a:rPr>
              <a:t>, DART’s dynamic allocation achieved up to a </a:t>
            </a:r>
            <a:r>
              <a:rPr lang="en-US" sz="3200" b="1" dirty="0">
                <a:solidFill>
                  <a:schemeClr val="tx1"/>
                </a:solidFill>
              </a:rPr>
              <a:t>35× speedup</a:t>
            </a:r>
            <a:r>
              <a:rPr lang="en-US" sz="3200" dirty="0">
                <a:solidFill>
                  <a:schemeClr val="tx1"/>
                </a:solidFill>
              </a:rPr>
              <a:t> compared to static strategies, reducing turnaround from months to days. These results highlight </a:t>
            </a:r>
            <a:r>
              <a:rPr lang="en-US" sz="3200" b="1" dirty="0">
                <a:solidFill>
                  <a:schemeClr val="tx1"/>
                </a:solidFill>
              </a:rPr>
              <a:t>DART</a:t>
            </a:r>
            <a:r>
              <a:rPr lang="en-US" sz="3200" dirty="0">
                <a:solidFill>
                  <a:schemeClr val="tx1"/>
                </a:solidFill>
              </a:rPr>
              <a:t> as an efficient solution for managing distributed computational tasks in today’s research.</a:t>
            </a:r>
          </a:p>
        </p:txBody>
      </p:sp>
      <p:sp>
        <p:nvSpPr>
          <p:cNvPr id="18" name="Text Placeholder 17">
            <a:extLst>
              <a:ext uri="{FF2B5EF4-FFF2-40B4-BE49-F238E27FC236}">
                <a16:creationId xmlns:a16="http://schemas.microsoft.com/office/drawing/2014/main" id="{59CA1069-F8A1-6CCB-9947-8D530C7ECCAA}"/>
              </a:ext>
            </a:extLst>
          </p:cNvPr>
          <p:cNvSpPr>
            <a:spLocks noGrp="1"/>
          </p:cNvSpPr>
          <p:nvPr>
            <p:ph type="body" sz="quarter" idx="1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INTRODUCTION</a:t>
            </a:r>
          </a:p>
        </p:txBody>
      </p:sp>
      <p:sp>
        <p:nvSpPr>
          <p:cNvPr id="19" name="Text Placeholder 18">
            <a:extLst>
              <a:ext uri="{FF2B5EF4-FFF2-40B4-BE49-F238E27FC236}">
                <a16:creationId xmlns:a16="http://schemas.microsoft.com/office/drawing/2014/main" id="{11F8C43F-A4FE-8D69-80C2-7BA5D7A6DF75}"/>
              </a:ext>
            </a:extLst>
          </p:cNvPr>
          <p:cNvSpPr>
            <a:spLocks noGrp="1"/>
          </p:cNvSpPr>
          <p:nvPr>
            <p:ph type="body" sz="quarter" idx="20"/>
          </p:nvPr>
        </p:nvSpPr>
        <p:spPr>
          <a:xfrm>
            <a:off x="604374" y="17593169"/>
            <a:ext cx="10050462" cy="754045"/>
          </a:xfrm>
        </p:spPr>
        <p:txBody>
          <a:bodyPr/>
          <a:lstStyle/>
          <a:p>
            <a:r>
              <a:rPr lang="en-US" dirty="0">
                <a:solidFill>
                  <a:schemeClr val="tx1"/>
                </a:solidFill>
                <a:latin typeface="Times New Roman" panose="02020603050405020304" pitchFamily="18" charset="0"/>
                <a:cs typeface="Times New Roman" panose="02020603050405020304" pitchFamily="18" charset="0"/>
              </a:rPr>
              <a:t>CONVENTIONAL RESEARCH WORKFLOW</a:t>
            </a:r>
          </a:p>
        </p:txBody>
      </p:sp>
      <p:sp>
        <p:nvSpPr>
          <p:cNvPr id="23" name="Text Placeholder 22">
            <a:extLst>
              <a:ext uri="{FF2B5EF4-FFF2-40B4-BE49-F238E27FC236}">
                <a16:creationId xmlns:a16="http://schemas.microsoft.com/office/drawing/2014/main" id="{10D2B337-93B6-50CF-DA7C-934914554471}"/>
              </a:ext>
            </a:extLst>
          </p:cNvPr>
          <p:cNvSpPr>
            <a:spLocks noGrp="1"/>
          </p:cNvSpPr>
          <p:nvPr>
            <p:ph type="body" sz="quarter" idx="22"/>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DART WORKFLOW</a:t>
            </a:r>
          </a:p>
        </p:txBody>
      </p:sp>
      <p:sp>
        <p:nvSpPr>
          <p:cNvPr id="91" name="Text Placeholder 90">
            <a:extLst>
              <a:ext uri="{FF2B5EF4-FFF2-40B4-BE49-F238E27FC236}">
                <a16:creationId xmlns:a16="http://schemas.microsoft.com/office/drawing/2014/main" id="{415BD2D6-6438-2F76-0CDF-CBFB776D03EC}"/>
              </a:ext>
            </a:extLst>
          </p:cNvPr>
          <p:cNvSpPr>
            <a:spLocks noGrp="1"/>
          </p:cNvSpPr>
          <p:nvPr>
            <p:ph type="body" sz="quarter" idx="25"/>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STATIC vs DYNAMIC ALLOCATION</a:t>
            </a:r>
          </a:p>
        </p:txBody>
      </p:sp>
      <p:sp>
        <p:nvSpPr>
          <p:cNvPr id="31" name="Text Placeholder 30">
            <a:extLst>
              <a:ext uri="{FF2B5EF4-FFF2-40B4-BE49-F238E27FC236}">
                <a16:creationId xmlns:a16="http://schemas.microsoft.com/office/drawing/2014/main" id="{C421B62F-D203-42D9-FA48-C8BC5354768C}"/>
              </a:ext>
            </a:extLst>
          </p:cNvPr>
          <p:cNvSpPr>
            <a:spLocks noGrp="1"/>
          </p:cNvSpPr>
          <p:nvPr>
            <p:ph type="body" sz="quarter" idx="27"/>
          </p:nvPr>
        </p:nvSpPr>
        <p:spPr>
          <a:xfrm>
            <a:off x="33264970" y="13779702"/>
            <a:ext cx="10500908" cy="754045"/>
          </a:xfrm>
        </p:spPr>
        <p:txBody>
          <a:bodyPr>
            <a:noAutofit/>
          </a:bodyPr>
          <a:lstStyle/>
          <a:p>
            <a:r>
              <a:rPr lang="en-US" dirty="0">
                <a:solidFill>
                  <a:schemeClr val="tx1"/>
                </a:solidFill>
                <a:latin typeface="Times New Roman" panose="02020603050405020304" pitchFamily="18" charset="0"/>
                <a:cs typeface="Times New Roman" panose="02020603050405020304" pitchFamily="18" charset="0"/>
              </a:rPr>
              <a:t>LEVERAGING RESOURCE HETEROGENEITY</a:t>
            </a:r>
          </a:p>
        </p:txBody>
      </p:sp>
      <p:sp>
        <p:nvSpPr>
          <p:cNvPr id="103" name="Text Placeholder 102">
            <a:extLst>
              <a:ext uri="{FF2B5EF4-FFF2-40B4-BE49-F238E27FC236}">
                <a16:creationId xmlns:a16="http://schemas.microsoft.com/office/drawing/2014/main" id="{95FDDD8F-0EE1-3F4F-AEB9-C6A6DBC65968}"/>
              </a:ext>
            </a:extLst>
          </p:cNvPr>
          <p:cNvSpPr>
            <a:spLocks noGrp="1"/>
          </p:cNvSpPr>
          <p:nvPr>
            <p:ph type="body" sz="quarter" idx="29"/>
          </p:nvPr>
        </p:nvSpPr>
        <p:spPr>
          <a:xfrm>
            <a:off x="33433934" y="26068866"/>
            <a:ext cx="10047018" cy="1600408"/>
          </a:xfrm>
        </p:spPr>
        <p:txBody>
          <a:bodyPr>
            <a:noAutofit/>
          </a:bodyPr>
          <a:lstStyle/>
          <a:p>
            <a:r>
              <a:rPr lang="en-US" dirty="0">
                <a:solidFill>
                  <a:schemeClr val="tx1"/>
                </a:solidFill>
                <a:latin typeface="Times New Roman" panose="02020603050405020304" pitchFamily="18" charset="0"/>
                <a:cs typeface="Times New Roman" panose="02020603050405020304" pitchFamily="18" charset="0"/>
              </a:rPr>
              <a:t>Interested in using DART to </a:t>
            </a:r>
          </a:p>
          <a:p>
            <a:r>
              <a:rPr lang="en-US" dirty="0">
                <a:solidFill>
                  <a:schemeClr val="tx1"/>
                </a:solidFill>
                <a:latin typeface="Times New Roman" panose="02020603050405020304" pitchFamily="18" charset="0"/>
                <a:cs typeface="Times New Roman" panose="02020603050405020304" pitchFamily="18" charset="0"/>
              </a:rPr>
              <a:t>streamline your experiments?</a:t>
            </a:r>
          </a:p>
        </p:txBody>
      </p:sp>
      <p:sp>
        <p:nvSpPr>
          <p:cNvPr id="95" name="Text Placeholder 94">
            <a:extLst>
              <a:ext uri="{FF2B5EF4-FFF2-40B4-BE49-F238E27FC236}">
                <a16:creationId xmlns:a16="http://schemas.microsoft.com/office/drawing/2014/main" id="{DF4640A7-EC07-CA97-A1AE-552240D41189}"/>
              </a:ext>
            </a:extLst>
          </p:cNvPr>
          <p:cNvSpPr>
            <a:spLocks noGrp="1"/>
          </p:cNvSpPr>
          <p:nvPr>
            <p:ph type="body" sz="quarter" idx="150"/>
          </p:nvPr>
        </p:nvSpPr>
        <p:spPr>
          <a:xfrm>
            <a:off x="6192944" y="4277944"/>
            <a:ext cx="31998968" cy="1280160"/>
          </a:xfrm>
        </p:spPr>
        <p:txBody>
          <a:bodyPr>
            <a:normAutofit fontScale="85000" lnSpcReduction="10000"/>
          </a:bodyPr>
          <a:lstStyle/>
          <a:p>
            <a:r>
              <a:rPr lang="en-US" sz="6000" dirty="0">
                <a:solidFill>
                  <a:schemeClr val="tx1"/>
                </a:solidFill>
                <a:latin typeface="Times New Roman" panose="02020603050405020304" pitchFamily="18" charset="0"/>
                <a:cs typeface="Times New Roman" panose="02020603050405020304" pitchFamily="18" charset="0"/>
              </a:rPr>
              <a:t>Networking and Wireless Systems Lab (NWSL), Department of Computer Engineering, University of Central Florida</a:t>
            </a:r>
          </a:p>
        </p:txBody>
      </p:sp>
      <p:sp>
        <p:nvSpPr>
          <p:cNvPr id="96" name="Text Placeholder 95">
            <a:extLst>
              <a:ext uri="{FF2B5EF4-FFF2-40B4-BE49-F238E27FC236}">
                <a16:creationId xmlns:a16="http://schemas.microsoft.com/office/drawing/2014/main" id="{6BB03EF9-A361-116C-FB35-27B4C62A2945}"/>
              </a:ext>
            </a:extLst>
          </p:cNvPr>
          <p:cNvSpPr>
            <a:spLocks noGrp="1"/>
          </p:cNvSpPr>
          <p:nvPr>
            <p:ph type="body" sz="quarter" idx="151"/>
          </p:nvPr>
        </p:nvSpPr>
        <p:spPr>
          <a:xfrm>
            <a:off x="6164931" y="2959941"/>
            <a:ext cx="31998968" cy="1280160"/>
          </a:xfrm>
        </p:spPr>
        <p:txBody>
          <a:bodyPr>
            <a:normAutofit/>
          </a:bodyPr>
          <a:lstStyle/>
          <a:p>
            <a:r>
              <a:rPr lang="en-US" sz="6600" dirty="0">
                <a:solidFill>
                  <a:schemeClr val="tx1"/>
                </a:solidFill>
                <a:latin typeface="Times New Roman" panose="02020603050405020304" pitchFamily="18" charset="0"/>
                <a:cs typeface="Times New Roman" panose="02020603050405020304" pitchFamily="18" charset="0"/>
              </a:rPr>
              <a:t>Abdur Rouf, Fahad Ahmad Khan, Benjamin Keene, Shafaq Chaudhry, and Murat Yuksel</a:t>
            </a:r>
          </a:p>
          <a:p>
            <a:endParaRPr lang="en-US" dirty="0">
              <a:latin typeface="Times New Roman" panose="02020603050405020304" pitchFamily="18" charset="0"/>
              <a:cs typeface="Times New Roman" panose="02020603050405020304" pitchFamily="18" charset="0"/>
            </a:endParaRPr>
          </a:p>
        </p:txBody>
      </p:sp>
      <p:sp>
        <p:nvSpPr>
          <p:cNvPr id="97" name="Text Placeholder 96">
            <a:extLst>
              <a:ext uri="{FF2B5EF4-FFF2-40B4-BE49-F238E27FC236}">
                <a16:creationId xmlns:a16="http://schemas.microsoft.com/office/drawing/2014/main" id="{1349CD69-6D6B-19E9-356C-FA936BDEBEBE}"/>
              </a:ext>
            </a:extLst>
          </p:cNvPr>
          <p:cNvSpPr>
            <a:spLocks noGrp="1"/>
          </p:cNvSpPr>
          <p:nvPr>
            <p:ph type="body" sz="quarter" idx="153"/>
          </p:nvPr>
        </p:nvSpPr>
        <p:spPr>
          <a:xfrm>
            <a:off x="10922051" y="166926"/>
            <a:ext cx="23276107" cy="2774094"/>
          </a:xfrm>
        </p:spPr>
        <p:txBody>
          <a:bodyPr>
            <a:noAutofit/>
          </a:bodyPr>
          <a:lstStyle/>
          <a:p>
            <a:r>
              <a:rPr lang="en-US" sz="8000" dirty="0">
                <a:solidFill>
                  <a:schemeClr val="tx1"/>
                </a:solidFill>
                <a:latin typeface="Times New Roman" panose="02020603050405020304" pitchFamily="18" charset="0"/>
                <a:cs typeface="Times New Roman" panose="02020603050405020304" pitchFamily="18" charset="0"/>
              </a:rPr>
              <a:t>DART: Distributed Assignment of Research Tasks for Heterogeneous Compute Environments</a:t>
            </a:r>
          </a:p>
        </p:txBody>
      </p:sp>
      <p:pic>
        <p:nvPicPr>
          <p:cNvPr id="32" name="Picture 31">
            <a:extLst>
              <a:ext uri="{FF2B5EF4-FFF2-40B4-BE49-F238E27FC236}">
                <a16:creationId xmlns:a16="http://schemas.microsoft.com/office/drawing/2014/main" id="{85651C1D-FC23-FB85-6CFF-B0F810405FA7}"/>
              </a:ext>
            </a:extLst>
          </p:cNvPr>
          <p:cNvPicPr>
            <a:picLocks noChangeAspect="1"/>
          </p:cNvPicPr>
          <p:nvPr/>
        </p:nvPicPr>
        <p:blipFill>
          <a:blip r:embed="rId3"/>
          <a:stretch>
            <a:fillRect/>
          </a:stretch>
        </p:blipFill>
        <p:spPr>
          <a:xfrm>
            <a:off x="23363382" y="17144945"/>
            <a:ext cx="10517878" cy="7208944"/>
          </a:xfrm>
          <a:prstGeom prst="rect">
            <a:avLst/>
          </a:prstGeom>
        </p:spPr>
      </p:pic>
      <p:pic>
        <p:nvPicPr>
          <p:cNvPr id="34" name="Picture 33">
            <a:extLst>
              <a:ext uri="{FF2B5EF4-FFF2-40B4-BE49-F238E27FC236}">
                <a16:creationId xmlns:a16="http://schemas.microsoft.com/office/drawing/2014/main" id="{52D39490-8E5A-A69D-5A4E-515A7988D406}"/>
              </a:ext>
            </a:extLst>
          </p:cNvPr>
          <p:cNvPicPr>
            <a:picLocks noChangeAspect="1"/>
          </p:cNvPicPr>
          <p:nvPr/>
        </p:nvPicPr>
        <p:blipFill>
          <a:blip r:embed="rId4"/>
          <a:stretch>
            <a:fillRect/>
          </a:stretch>
        </p:blipFill>
        <p:spPr>
          <a:xfrm>
            <a:off x="22565137" y="24487531"/>
            <a:ext cx="10486503" cy="7155366"/>
          </a:xfrm>
          <a:prstGeom prst="rect">
            <a:avLst/>
          </a:prstGeom>
        </p:spPr>
      </p:pic>
      <p:pic>
        <p:nvPicPr>
          <p:cNvPr id="3" name="Picture 2">
            <a:extLst>
              <a:ext uri="{FF2B5EF4-FFF2-40B4-BE49-F238E27FC236}">
                <a16:creationId xmlns:a16="http://schemas.microsoft.com/office/drawing/2014/main" id="{42D5AAE0-5EF2-575E-6459-8E17CB2F6E55}"/>
              </a:ext>
            </a:extLst>
          </p:cNvPr>
          <p:cNvPicPr>
            <a:picLocks noChangeAspect="1"/>
          </p:cNvPicPr>
          <p:nvPr/>
        </p:nvPicPr>
        <p:blipFill>
          <a:blip r:embed="rId5"/>
          <a:stretch>
            <a:fillRect/>
          </a:stretch>
        </p:blipFill>
        <p:spPr>
          <a:xfrm>
            <a:off x="11317920" y="20021517"/>
            <a:ext cx="10737302" cy="9376235"/>
          </a:xfrm>
          <a:prstGeom prst="rect">
            <a:avLst/>
          </a:prstGeom>
        </p:spPr>
      </p:pic>
      <p:pic>
        <p:nvPicPr>
          <p:cNvPr id="7" name="Picture 6">
            <a:extLst>
              <a:ext uri="{FF2B5EF4-FFF2-40B4-BE49-F238E27FC236}">
                <a16:creationId xmlns:a16="http://schemas.microsoft.com/office/drawing/2014/main" id="{01E082EA-0CA0-468B-7BDD-3EF13472D0DA}"/>
              </a:ext>
            </a:extLst>
          </p:cNvPr>
          <p:cNvPicPr>
            <a:picLocks noChangeAspect="1"/>
          </p:cNvPicPr>
          <p:nvPr/>
        </p:nvPicPr>
        <p:blipFill>
          <a:blip r:embed="rId6"/>
          <a:stretch>
            <a:fillRect/>
          </a:stretch>
        </p:blipFill>
        <p:spPr>
          <a:xfrm>
            <a:off x="519616" y="18789848"/>
            <a:ext cx="6796712" cy="5158530"/>
          </a:xfrm>
          <a:prstGeom prst="rect">
            <a:avLst/>
          </a:prstGeom>
        </p:spPr>
      </p:pic>
      <p:sp>
        <p:nvSpPr>
          <p:cNvPr id="10" name="TextBox 9">
            <a:extLst>
              <a:ext uri="{FF2B5EF4-FFF2-40B4-BE49-F238E27FC236}">
                <a16:creationId xmlns:a16="http://schemas.microsoft.com/office/drawing/2014/main" id="{DAB7A27A-9733-BF13-552B-50CD7CDA7419}"/>
              </a:ext>
            </a:extLst>
          </p:cNvPr>
          <p:cNvSpPr txBox="1"/>
          <p:nvPr/>
        </p:nvSpPr>
        <p:spPr>
          <a:xfrm>
            <a:off x="6072939" y="22332190"/>
            <a:ext cx="5892258" cy="2446824"/>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Stokes </a:t>
            </a:r>
            <a:r>
              <a:rPr lang="en-US" sz="3200" dirty="0">
                <a:latin typeface="Times New Roman" panose="02020603050405020304" pitchFamily="18" charset="0"/>
                <a:cs typeface="Times New Roman" panose="02020603050405020304" pitchFamily="18" charset="0"/>
                <a:sym typeface="Wingdings" pitchFamily="2" charset="2"/>
              </a:rPr>
              <a:t> 20 Compute Nodes</a:t>
            </a:r>
          </a:p>
          <a:p>
            <a:r>
              <a:rPr lang="en-US" sz="3200" dirty="0">
                <a:latin typeface="Times New Roman" panose="02020603050405020304" pitchFamily="18" charset="0"/>
                <a:cs typeface="Times New Roman" panose="02020603050405020304" pitchFamily="18" charset="0"/>
                <a:sym typeface="Wingdings" pitchFamily="2" charset="2"/>
              </a:rPr>
              <a:t>Newton  10 Compute Nodes</a:t>
            </a:r>
          </a:p>
          <a:p>
            <a:r>
              <a:rPr lang="en-US" sz="3200" dirty="0">
                <a:latin typeface="Times New Roman" panose="02020603050405020304" pitchFamily="18" charset="0"/>
                <a:cs typeface="Times New Roman" panose="02020603050405020304" pitchFamily="18" charset="0"/>
                <a:sym typeface="Wingdings" pitchFamily="2" charset="2"/>
              </a:rPr>
              <a:t>Desktop  1 Compute Node</a:t>
            </a:r>
          </a:p>
          <a:p>
            <a:r>
              <a:rPr lang="en-US" sz="3200" dirty="0">
                <a:latin typeface="Times New Roman" panose="02020603050405020304" pitchFamily="18" charset="0"/>
                <a:cs typeface="Times New Roman" panose="02020603050405020304" pitchFamily="18" charset="0"/>
                <a:sym typeface="Wingdings" pitchFamily="2" charset="2"/>
              </a:rPr>
              <a:t>Laptop  1 Compute Node</a:t>
            </a:r>
          </a:p>
          <a:p>
            <a:pPr marL="342900" indent="-342900">
              <a:buFont typeface="Arial" panose="020B0604020202020204" pitchFamily="34" charset="0"/>
              <a:buChar char="•"/>
            </a:pPr>
            <a:endParaRPr lang="en-US" sz="2500" dirty="0">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F40A8101-872F-C3D9-B9D5-B202D2AB2040}"/>
              </a:ext>
            </a:extLst>
          </p:cNvPr>
          <p:cNvSpPr/>
          <p:nvPr/>
        </p:nvSpPr>
        <p:spPr>
          <a:xfrm>
            <a:off x="6072939" y="22265820"/>
            <a:ext cx="5158643" cy="2125192"/>
          </a:xfrm>
          <a:custGeom>
            <a:avLst/>
            <a:gdLst>
              <a:gd name="connsiteX0" fmla="*/ 0 w 5158643"/>
              <a:gd name="connsiteY0" fmla="*/ 0 h 2125192"/>
              <a:gd name="connsiteX1" fmla="*/ 521596 w 5158643"/>
              <a:gd name="connsiteY1" fmla="*/ 0 h 2125192"/>
              <a:gd name="connsiteX2" fmla="*/ 940019 w 5158643"/>
              <a:gd name="connsiteY2" fmla="*/ 0 h 2125192"/>
              <a:gd name="connsiteX3" fmla="*/ 1616375 w 5158643"/>
              <a:gd name="connsiteY3" fmla="*/ 0 h 2125192"/>
              <a:gd name="connsiteX4" fmla="*/ 2137971 w 5158643"/>
              <a:gd name="connsiteY4" fmla="*/ 0 h 2125192"/>
              <a:gd name="connsiteX5" fmla="*/ 2659567 w 5158643"/>
              <a:gd name="connsiteY5" fmla="*/ 0 h 2125192"/>
              <a:gd name="connsiteX6" fmla="*/ 3335922 w 5158643"/>
              <a:gd name="connsiteY6" fmla="*/ 0 h 2125192"/>
              <a:gd name="connsiteX7" fmla="*/ 3805932 w 5158643"/>
              <a:gd name="connsiteY7" fmla="*/ 0 h 2125192"/>
              <a:gd name="connsiteX8" fmla="*/ 4482288 w 5158643"/>
              <a:gd name="connsiteY8" fmla="*/ 0 h 2125192"/>
              <a:gd name="connsiteX9" fmla="*/ 5158643 w 5158643"/>
              <a:gd name="connsiteY9" fmla="*/ 0 h 2125192"/>
              <a:gd name="connsiteX10" fmla="*/ 5158643 w 5158643"/>
              <a:gd name="connsiteY10" fmla="*/ 531298 h 2125192"/>
              <a:gd name="connsiteX11" fmla="*/ 5158643 w 5158643"/>
              <a:gd name="connsiteY11" fmla="*/ 1062596 h 2125192"/>
              <a:gd name="connsiteX12" fmla="*/ 5158643 w 5158643"/>
              <a:gd name="connsiteY12" fmla="*/ 1615146 h 2125192"/>
              <a:gd name="connsiteX13" fmla="*/ 5158643 w 5158643"/>
              <a:gd name="connsiteY13" fmla="*/ 2125192 h 2125192"/>
              <a:gd name="connsiteX14" fmla="*/ 4585460 w 5158643"/>
              <a:gd name="connsiteY14" fmla="*/ 2125192 h 2125192"/>
              <a:gd name="connsiteX15" fmla="*/ 4115451 w 5158643"/>
              <a:gd name="connsiteY15" fmla="*/ 2125192 h 2125192"/>
              <a:gd name="connsiteX16" fmla="*/ 3542268 w 5158643"/>
              <a:gd name="connsiteY16" fmla="*/ 2125192 h 2125192"/>
              <a:gd name="connsiteX17" fmla="*/ 2865913 w 5158643"/>
              <a:gd name="connsiteY17" fmla="*/ 2125192 h 2125192"/>
              <a:gd name="connsiteX18" fmla="*/ 2292730 w 5158643"/>
              <a:gd name="connsiteY18" fmla="*/ 2125192 h 2125192"/>
              <a:gd name="connsiteX19" fmla="*/ 1874307 w 5158643"/>
              <a:gd name="connsiteY19" fmla="*/ 2125192 h 2125192"/>
              <a:gd name="connsiteX20" fmla="*/ 1404297 w 5158643"/>
              <a:gd name="connsiteY20" fmla="*/ 2125192 h 2125192"/>
              <a:gd name="connsiteX21" fmla="*/ 727942 w 5158643"/>
              <a:gd name="connsiteY21" fmla="*/ 2125192 h 2125192"/>
              <a:gd name="connsiteX22" fmla="*/ 0 w 5158643"/>
              <a:gd name="connsiteY22" fmla="*/ 2125192 h 2125192"/>
              <a:gd name="connsiteX23" fmla="*/ 0 w 5158643"/>
              <a:gd name="connsiteY23" fmla="*/ 1636398 h 2125192"/>
              <a:gd name="connsiteX24" fmla="*/ 0 w 5158643"/>
              <a:gd name="connsiteY24" fmla="*/ 1126352 h 2125192"/>
              <a:gd name="connsiteX25" fmla="*/ 0 w 5158643"/>
              <a:gd name="connsiteY25" fmla="*/ 658810 h 2125192"/>
              <a:gd name="connsiteX26" fmla="*/ 0 w 5158643"/>
              <a:gd name="connsiteY26" fmla="*/ 0 h 2125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158643" h="2125192" extrusionOk="0">
                <a:moveTo>
                  <a:pt x="0" y="0"/>
                </a:moveTo>
                <a:cubicBezTo>
                  <a:pt x="239519" y="-43248"/>
                  <a:pt x="292718" y="36614"/>
                  <a:pt x="521596" y="0"/>
                </a:cubicBezTo>
                <a:cubicBezTo>
                  <a:pt x="750474" y="-36614"/>
                  <a:pt x="758428" y="16892"/>
                  <a:pt x="940019" y="0"/>
                </a:cubicBezTo>
                <a:cubicBezTo>
                  <a:pt x="1121610" y="-16892"/>
                  <a:pt x="1460062" y="5006"/>
                  <a:pt x="1616375" y="0"/>
                </a:cubicBezTo>
                <a:cubicBezTo>
                  <a:pt x="1772688" y="-5006"/>
                  <a:pt x="2014489" y="49255"/>
                  <a:pt x="2137971" y="0"/>
                </a:cubicBezTo>
                <a:cubicBezTo>
                  <a:pt x="2261453" y="-49255"/>
                  <a:pt x="2432634" y="29445"/>
                  <a:pt x="2659567" y="0"/>
                </a:cubicBezTo>
                <a:cubicBezTo>
                  <a:pt x="2886500" y="-29445"/>
                  <a:pt x="3199063" y="20209"/>
                  <a:pt x="3335922" y="0"/>
                </a:cubicBezTo>
                <a:cubicBezTo>
                  <a:pt x="3472782" y="-20209"/>
                  <a:pt x="3698208" y="21519"/>
                  <a:pt x="3805932" y="0"/>
                </a:cubicBezTo>
                <a:cubicBezTo>
                  <a:pt x="3913656" y="-21519"/>
                  <a:pt x="4303529" y="24543"/>
                  <a:pt x="4482288" y="0"/>
                </a:cubicBezTo>
                <a:cubicBezTo>
                  <a:pt x="4661047" y="-24543"/>
                  <a:pt x="4916688" y="4799"/>
                  <a:pt x="5158643" y="0"/>
                </a:cubicBezTo>
                <a:cubicBezTo>
                  <a:pt x="5168347" y="201129"/>
                  <a:pt x="5127876" y="345882"/>
                  <a:pt x="5158643" y="531298"/>
                </a:cubicBezTo>
                <a:cubicBezTo>
                  <a:pt x="5189410" y="716714"/>
                  <a:pt x="5148952" y="832009"/>
                  <a:pt x="5158643" y="1062596"/>
                </a:cubicBezTo>
                <a:cubicBezTo>
                  <a:pt x="5168334" y="1293183"/>
                  <a:pt x="5099949" y="1459643"/>
                  <a:pt x="5158643" y="1615146"/>
                </a:cubicBezTo>
                <a:cubicBezTo>
                  <a:pt x="5217337" y="1770649"/>
                  <a:pt x="5141568" y="1916407"/>
                  <a:pt x="5158643" y="2125192"/>
                </a:cubicBezTo>
                <a:cubicBezTo>
                  <a:pt x="4903794" y="2149599"/>
                  <a:pt x="4726671" y="2104212"/>
                  <a:pt x="4585460" y="2125192"/>
                </a:cubicBezTo>
                <a:cubicBezTo>
                  <a:pt x="4444249" y="2146172"/>
                  <a:pt x="4332089" y="2072476"/>
                  <a:pt x="4115451" y="2125192"/>
                </a:cubicBezTo>
                <a:cubicBezTo>
                  <a:pt x="3898813" y="2177908"/>
                  <a:pt x="3790521" y="2124002"/>
                  <a:pt x="3542268" y="2125192"/>
                </a:cubicBezTo>
                <a:cubicBezTo>
                  <a:pt x="3294015" y="2126382"/>
                  <a:pt x="3112241" y="2093602"/>
                  <a:pt x="2865913" y="2125192"/>
                </a:cubicBezTo>
                <a:cubicBezTo>
                  <a:pt x="2619586" y="2156782"/>
                  <a:pt x="2473963" y="2116891"/>
                  <a:pt x="2292730" y="2125192"/>
                </a:cubicBezTo>
                <a:cubicBezTo>
                  <a:pt x="2111497" y="2133493"/>
                  <a:pt x="2040392" y="2077854"/>
                  <a:pt x="1874307" y="2125192"/>
                </a:cubicBezTo>
                <a:cubicBezTo>
                  <a:pt x="1708222" y="2172530"/>
                  <a:pt x="1576805" y="2077886"/>
                  <a:pt x="1404297" y="2125192"/>
                </a:cubicBezTo>
                <a:cubicBezTo>
                  <a:pt x="1231789" y="2172498"/>
                  <a:pt x="1005124" y="2073272"/>
                  <a:pt x="727942" y="2125192"/>
                </a:cubicBezTo>
                <a:cubicBezTo>
                  <a:pt x="450761" y="2177112"/>
                  <a:pt x="202620" y="2124453"/>
                  <a:pt x="0" y="2125192"/>
                </a:cubicBezTo>
                <a:cubicBezTo>
                  <a:pt x="-20927" y="1886877"/>
                  <a:pt x="9415" y="1758646"/>
                  <a:pt x="0" y="1636398"/>
                </a:cubicBezTo>
                <a:cubicBezTo>
                  <a:pt x="-9415" y="1514150"/>
                  <a:pt x="10578" y="1255612"/>
                  <a:pt x="0" y="1126352"/>
                </a:cubicBezTo>
                <a:cubicBezTo>
                  <a:pt x="-10578" y="997092"/>
                  <a:pt x="20126" y="834011"/>
                  <a:pt x="0" y="658810"/>
                </a:cubicBezTo>
                <a:cubicBezTo>
                  <a:pt x="-20126" y="483609"/>
                  <a:pt x="4415" y="275806"/>
                  <a:pt x="0" y="0"/>
                </a:cubicBezTo>
                <a:close/>
              </a:path>
            </a:pathLst>
          </a:custGeom>
          <a:noFill/>
          <a:ln>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ACF0A5D2-FE77-9DC6-8ED0-C900FEDF1560}"/>
              </a:ext>
            </a:extLst>
          </p:cNvPr>
          <p:cNvSpPr txBox="1"/>
          <p:nvPr/>
        </p:nvSpPr>
        <p:spPr>
          <a:xfrm>
            <a:off x="659562" y="24709635"/>
            <a:ext cx="10653326" cy="1077218"/>
          </a:xfrm>
          <a:prstGeom prst="rect">
            <a:avLst/>
          </a:prstGeom>
          <a:noFill/>
        </p:spPr>
        <p:txBody>
          <a:bodyPr wrap="square" rtlCol="0">
            <a:spAutoFit/>
          </a:bodyPr>
          <a:lstStyle/>
          <a:p>
            <a:pPr algn="just"/>
            <a:r>
              <a:rPr lang="en-US" sz="3200" dirty="0">
                <a:latin typeface="Times New Roman" panose="02020603050405020304" pitchFamily="18" charset="0"/>
                <a:cs typeface="Times New Roman" panose="02020603050405020304" pitchFamily="18" charset="0"/>
              </a:rPr>
              <a:t>We want to run the same code/software across different research configurations by utilizing all available compute nodes</a:t>
            </a:r>
          </a:p>
        </p:txBody>
      </p:sp>
      <p:sp>
        <p:nvSpPr>
          <p:cNvPr id="13" name="Rectangle 12">
            <a:extLst>
              <a:ext uri="{FF2B5EF4-FFF2-40B4-BE49-F238E27FC236}">
                <a16:creationId xmlns:a16="http://schemas.microsoft.com/office/drawing/2014/main" id="{B544D728-7E3D-356D-97CA-BE986FBC8FFA}"/>
              </a:ext>
            </a:extLst>
          </p:cNvPr>
          <p:cNvSpPr/>
          <p:nvPr/>
        </p:nvSpPr>
        <p:spPr>
          <a:xfrm>
            <a:off x="604374" y="24608576"/>
            <a:ext cx="10653326" cy="1280160"/>
          </a:xfrm>
          <a:custGeom>
            <a:avLst/>
            <a:gdLst>
              <a:gd name="connsiteX0" fmla="*/ 0 w 10653326"/>
              <a:gd name="connsiteY0" fmla="*/ 0 h 1280160"/>
              <a:gd name="connsiteX1" fmla="*/ 485318 w 10653326"/>
              <a:gd name="connsiteY1" fmla="*/ 0 h 1280160"/>
              <a:gd name="connsiteX2" fmla="*/ 757570 w 10653326"/>
              <a:gd name="connsiteY2" fmla="*/ 0 h 1280160"/>
              <a:gd name="connsiteX3" fmla="*/ 1562488 w 10653326"/>
              <a:gd name="connsiteY3" fmla="*/ 0 h 1280160"/>
              <a:gd name="connsiteX4" fmla="*/ 2047806 w 10653326"/>
              <a:gd name="connsiteY4" fmla="*/ 0 h 1280160"/>
              <a:gd name="connsiteX5" fmla="*/ 2533124 w 10653326"/>
              <a:gd name="connsiteY5" fmla="*/ 0 h 1280160"/>
              <a:gd name="connsiteX6" fmla="*/ 3338042 w 10653326"/>
              <a:gd name="connsiteY6" fmla="*/ 0 h 1280160"/>
              <a:gd name="connsiteX7" fmla="*/ 3716827 w 10653326"/>
              <a:gd name="connsiteY7" fmla="*/ 0 h 1280160"/>
              <a:gd name="connsiteX8" fmla="*/ 4521745 w 10653326"/>
              <a:gd name="connsiteY8" fmla="*/ 0 h 1280160"/>
              <a:gd name="connsiteX9" fmla="*/ 5326663 w 10653326"/>
              <a:gd name="connsiteY9" fmla="*/ 0 h 1280160"/>
              <a:gd name="connsiteX10" fmla="*/ 5918514 w 10653326"/>
              <a:gd name="connsiteY10" fmla="*/ 0 h 1280160"/>
              <a:gd name="connsiteX11" fmla="*/ 6723432 w 10653326"/>
              <a:gd name="connsiteY11" fmla="*/ 0 h 1280160"/>
              <a:gd name="connsiteX12" fmla="*/ 7208751 w 10653326"/>
              <a:gd name="connsiteY12" fmla="*/ 0 h 1280160"/>
              <a:gd name="connsiteX13" fmla="*/ 7694069 w 10653326"/>
              <a:gd name="connsiteY13" fmla="*/ 0 h 1280160"/>
              <a:gd name="connsiteX14" fmla="*/ 8392453 w 10653326"/>
              <a:gd name="connsiteY14" fmla="*/ 0 h 1280160"/>
              <a:gd name="connsiteX15" fmla="*/ 8877772 w 10653326"/>
              <a:gd name="connsiteY15" fmla="*/ 0 h 1280160"/>
              <a:gd name="connsiteX16" fmla="*/ 9682690 w 10653326"/>
              <a:gd name="connsiteY16" fmla="*/ 0 h 1280160"/>
              <a:gd name="connsiteX17" fmla="*/ 10653326 w 10653326"/>
              <a:gd name="connsiteY17" fmla="*/ 0 h 1280160"/>
              <a:gd name="connsiteX18" fmla="*/ 10653326 w 10653326"/>
              <a:gd name="connsiteY18" fmla="*/ 426720 h 1280160"/>
              <a:gd name="connsiteX19" fmla="*/ 10653326 w 10653326"/>
              <a:gd name="connsiteY19" fmla="*/ 866242 h 1280160"/>
              <a:gd name="connsiteX20" fmla="*/ 10653326 w 10653326"/>
              <a:gd name="connsiteY20" fmla="*/ 1280160 h 1280160"/>
              <a:gd name="connsiteX21" fmla="*/ 10274541 w 10653326"/>
              <a:gd name="connsiteY21" fmla="*/ 1280160 h 1280160"/>
              <a:gd name="connsiteX22" fmla="*/ 9682690 w 10653326"/>
              <a:gd name="connsiteY22" fmla="*/ 1280160 h 1280160"/>
              <a:gd name="connsiteX23" fmla="*/ 9303905 w 10653326"/>
              <a:gd name="connsiteY23" fmla="*/ 1280160 h 1280160"/>
              <a:gd name="connsiteX24" fmla="*/ 8712053 w 10653326"/>
              <a:gd name="connsiteY24" fmla="*/ 1280160 h 1280160"/>
              <a:gd name="connsiteX25" fmla="*/ 8439802 w 10653326"/>
              <a:gd name="connsiteY25" fmla="*/ 1280160 h 1280160"/>
              <a:gd name="connsiteX26" fmla="*/ 8167550 w 10653326"/>
              <a:gd name="connsiteY26" fmla="*/ 1280160 h 1280160"/>
              <a:gd name="connsiteX27" fmla="*/ 7575698 w 10653326"/>
              <a:gd name="connsiteY27" fmla="*/ 1280160 h 1280160"/>
              <a:gd name="connsiteX28" fmla="*/ 7196914 w 10653326"/>
              <a:gd name="connsiteY28" fmla="*/ 1280160 h 1280160"/>
              <a:gd name="connsiteX29" fmla="*/ 6498529 w 10653326"/>
              <a:gd name="connsiteY29" fmla="*/ 1280160 h 1280160"/>
              <a:gd name="connsiteX30" fmla="*/ 6119744 w 10653326"/>
              <a:gd name="connsiteY30" fmla="*/ 1280160 h 1280160"/>
              <a:gd name="connsiteX31" fmla="*/ 5421359 w 10653326"/>
              <a:gd name="connsiteY31" fmla="*/ 1280160 h 1280160"/>
              <a:gd name="connsiteX32" fmla="*/ 5149108 w 10653326"/>
              <a:gd name="connsiteY32" fmla="*/ 1280160 h 1280160"/>
              <a:gd name="connsiteX33" fmla="*/ 4450723 w 10653326"/>
              <a:gd name="connsiteY33" fmla="*/ 1280160 h 1280160"/>
              <a:gd name="connsiteX34" fmla="*/ 4071938 w 10653326"/>
              <a:gd name="connsiteY34" fmla="*/ 1280160 h 1280160"/>
              <a:gd name="connsiteX35" fmla="*/ 3799686 w 10653326"/>
              <a:gd name="connsiteY35" fmla="*/ 1280160 h 1280160"/>
              <a:gd name="connsiteX36" fmla="*/ 3420901 w 10653326"/>
              <a:gd name="connsiteY36" fmla="*/ 1280160 h 1280160"/>
              <a:gd name="connsiteX37" fmla="*/ 2722517 w 10653326"/>
              <a:gd name="connsiteY37" fmla="*/ 1280160 h 1280160"/>
              <a:gd name="connsiteX38" fmla="*/ 2343732 w 10653326"/>
              <a:gd name="connsiteY38" fmla="*/ 1280160 h 1280160"/>
              <a:gd name="connsiteX39" fmla="*/ 2071480 w 10653326"/>
              <a:gd name="connsiteY39" fmla="*/ 1280160 h 1280160"/>
              <a:gd name="connsiteX40" fmla="*/ 1692695 w 10653326"/>
              <a:gd name="connsiteY40" fmla="*/ 1280160 h 1280160"/>
              <a:gd name="connsiteX41" fmla="*/ 1207377 w 10653326"/>
              <a:gd name="connsiteY41" fmla="*/ 1280160 h 1280160"/>
              <a:gd name="connsiteX42" fmla="*/ 615526 w 10653326"/>
              <a:gd name="connsiteY42" fmla="*/ 1280160 h 1280160"/>
              <a:gd name="connsiteX43" fmla="*/ 0 w 10653326"/>
              <a:gd name="connsiteY43" fmla="*/ 1280160 h 1280160"/>
              <a:gd name="connsiteX44" fmla="*/ 0 w 10653326"/>
              <a:gd name="connsiteY44" fmla="*/ 827837 h 1280160"/>
              <a:gd name="connsiteX45" fmla="*/ 0 w 10653326"/>
              <a:gd name="connsiteY45" fmla="*/ 401117 h 1280160"/>
              <a:gd name="connsiteX46" fmla="*/ 0 w 10653326"/>
              <a:gd name="connsiteY46" fmla="*/ 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653326" h="1280160" extrusionOk="0">
                <a:moveTo>
                  <a:pt x="0" y="0"/>
                </a:moveTo>
                <a:cubicBezTo>
                  <a:pt x="230157" y="-30648"/>
                  <a:pt x="284685" y="31684"/>
                  <a:pt x="485318" y="0"/>
                </a:cubicBezTo>
                <a:cubicBezTo>
                  <a:pt x="685951" y="-31684"/>
                  <a:pt x="660710" y="14531"/>
                  <a:pt x="757570" y="0"/>
                </a:cubicBezTo>
                <a:cubicBezTo>
                  <a:pt x="854430" y="-14531"/>
                  <a:pt x="1398006" y="9477"/>
                  <a:pt x="1562488" y="0"/>
                </a:cubicBezTo>
                <a:cubicBezTo>
                  <a:pt x="1726970" y="-9477"/>
                  <a:pt x="1907644" y="32230"/>
                  <a:pt x="2047806" y="0"/>
                </a:cubicBezTo>
                <a:cubicBezTo>
                  <a:pt x="2187968" y="-32230"/>
                  <a:pt x="2309239" y="31284"/>
                  <a:pt x="2533124" y="0"/>
                </a:cubicBezTo>
                <a:cubicBezTo>
                  <a:pt x="2757009" y="-31284"/>
                  <a:pt x="3134227" y="4032"/>
                  <a:pt x="3338042" y="0"/>
                </a:cubicBezTo>
                <a:cubicBezTo>
                  <a:pt x="3541857" y="-4032"/>
                  <a:pt x="3563343" y="31867"/>
                  <a:pt x="3716827" y="0"/>
                </a:cubicBezTo>
                <a:cubicBezTo>
                  <a:pt x="3870311" y="-31867"/>
                  <a:pt x="4286348" y="91019"/>
                  <a:pt x="4521745" y="0"/>
                </a:cubicBezTo>
                <a:cubicBezTo>
                  <a:pt x="4757142" y="-91019"/>
                  <a:pt x="5147798" y="80279"/>
                  <a:pt x="5326663" y="0"/>
                </a:cubicBezTo>
                <a:cubicBezTo>
                  <a:pt x="5505528" y="-80279"/>
                  <a:pt x="5728601" y="32717"/>
                  <a:pt x="5918514" y="0"/>
                </a:cubicBezTo>
                <a:cubicBezTo>
                  <a:pt x="6108427" y="-32717"/>
                  <a:pt x="6345786" y="94677"/>
                  <a:pt x="6723432" y="0"/>
                </a:cubicBezTo>
                <a:cubicBezTo>
                  <a:pt x="7101078" y="-94677"/>
                  <a:pt x="7060721" y="50880"/>
                  <a:pt x="7208751" y="0"/>
                </a:cubicBezTo>
                <a:cubicBezTo>
                  <a:pt x="7356781" y="-50880"/>
                  <a:pt x="7547665" y="15633"/>
                  <a:pt x="7694069" y="0"/>
                </a:cubicBezTo>
                <a:cubicBezTo>
                  <a:pt x="7840473" y="-15633"/>
                  <a:pt x="8056016" y="43513"/>
                  <a:pt x="8392453" y="0"/>
                </a:cubicBezTo>
                <a:cubicBezTo>
                  <a:pt x="8728890" y="-43513"/>
                  <a:pt x="8726220" y="49133"/>
                  <a:pt x="8877772" y="0"/>
                </a:cubicBezTo>
                <a:cubicBezTo>
                  <a:pt x="9029324" y="-49133"/>
                  <a:pt x="9371706" y="71042"/>
                  <a:pt x="9682690" y="0"/>
                </a:cubicBezTo>
                <a:cubicBezTo>
                  <a:pt x="9993674" y="-71042"/>
                  <a:pt x="10327700" y="4897"/>
                  <a:pt x="10653326" y="0"/>
                </a:cubicBezTo>
                <a:cubicBezTo>
                  <a:pt x="10684752" y="202043"/>
                  <a:pt x="10645855" y="336179"/>
                  <a:pt x="10653326" y="426720"/>
                </a:cubicBezTo>
                <a:cubicBezTo>
                  <a:pt x="10660797" y="517261"/>
                  <a:pt x="10633859" y="712981"/>
                  <a:pt x="10653326" y="866242"/>
                </a:cubicBezTo>
                <a:cubicBezTo>
                  <a:pt x="10672793" y="1019503"/>
                  <a:pt x="10628860" y="1114995"/>
                  <a:pt x="10653326" y="1280160"/>
                </a:cubicBezTo>
                <a:cubicBezTo>
                  <a:pt x="10490778" y="1287546"/>
                  <a:pt x="10456578" y="1248413"/>
                  <a:pt x="10274541" y="1280160"/>
                </a:cubicBezTo>
                <a:cubicBezTo>
                  <a:pt x="10092505" y="1311907"/>
                  <a:pt x="9839397" y="1258007"/>
                  <a:pt x="9682690" y="1280160"/>
                </a:cubicBezTo>
                <a:cubicBezTo>
                  <a:pt x="9525983" y="1302313"/>
                  <a:pt x="9454826" y="1242337"/>
                  <a:pt x="9303905" y="1280160"/>
                </a:cubicBezTo>
                <a:cubicBezTo>
                  <a:pt x="9152984" y="1317983"/>
                  <a:pt x="8849918" y="1235491"/>
                  <a:pt x="8712053" y="1280160"/>
                </a:cubicBezTo>
                <a:cubicBezTo>
                  <a:pt x="8574188" y="1324829"/>
                  <a:pt x="8516615" y="1273758"/>
                  <a:pt x="8439802" y="1280160"/>
                </a:cubicBezTo>
                <a:cubicBezTo>
                  <a:pt x="8362989" y="1286562"/>
                  <a:pt x="8296871" y="1263689"/>
                  <a:pt x="8167550" y="1280160"/>
                </a:cubicBezTo>
                <a:cubicBezTo>
                  <a:pt x="8038229" y="1296631"/>
                  <a:pt x="7862903" y="1271150"/>
                  <a:pt x="7575698" y="1280160"/>
                </a:cubicBezTo>
                <a:cubicBezTo>
                  <a:pt x="7288493" y="1289170"/>
                  <a:pt x="7282982" y="1245059"/>
                  <a:pt x="7196914" y="1280160"/>
                </a:cubicBezTo>
                <a:cubicBezTo>
                  <a:pt x="7110846" y="1315261"/>
                  <a:pt x="6774013" y="1238895"/>
                  <a:pt x="6498529" y="1280160"/>
                </a:cubicBezTo>
                <a:cubicBezTo>
                  <a:pt x="6223046" y="1321425"/>
                  <a:pt x="6224374" y="1251956"/>
                  <a:pt x="6119744" y="1280160"/>
                </a:cubicBezTo>
                <a:cubicBezTo>
                  <a:pt x="6015114" y="1308364"/>
                  <a:pt x="5659353" y="1206223"/>
                  <a:pt x="5421359" y="1280160"/>
                </a:cubicBezTo>
                <a:cubicBezTo>
                  <a:pt x="5183365" y="1354097"/>
                  <a:pt x="5253814" y="1273174"/>
                  <a:pt x="5149108" y="1280160"/>
                </a:cubicBezTo>
                <a:cubicBezTo>
                  <a:pt x="5044402" y="1287146"/>
                  <a:pt x="4647909" y="1216336"/>
                  <a:pt x="4450723" y="1280160"/>
                </a:cubicBezTo>
                <a:cubicBezTo>
                  <a:pt x="4253537" y="1343984"/>
                  <a:pt x="4182463" y="1252581"/>
                  <a:pt x="4071938" y="1280160"/>
                </a:cubicBezTo>
                <a:cubicBezTo>
                  <a:pt x="3961414" y="1307739"/>
                  <a:pt x="3915260" y="1259666"/>
                  <a:pt x="3799686" y="1280160"/>
                </a:cubicBezTo>
                <a:cubicBezTo>
                  <a:pt x="3684112" y="1300654"/>
                  <a:pt x="3585607" y="1260054"/>
                  <a:pt x="3420901" y="1280160"/>
                </a:cubicBezTo>
                <a:cubicBezTo>
                  <a:pt x="3256196" y="1300266"/>
                  <a:pt x="2902017" y="1210563"/>
                  <a:pt x="2722517" y="1280160"/>
                </a:cubicBezTo>
                <a:cubicBezTo>
                  <a:pt x="2543017" y="1349757"/>
                  <a:pt x="2467484" y="1258882"/>
                  <a:pt x="2343732" y="1280160"/>
                </a:cubicBezTo>
                <a:cubicBezTo>
                  <a:pt x="2219980" y="1301438"/>
                  <a:pt x="2153168" y="1250370"/>
                  <a:pt x="2071480" y="1280160"/>
                </a:cubicBezTo>
                <a:cubicBezTo>
                  <a:pt x="1989792" y="1309950"/>
                  <a:pt x="1779061" y="1261286"/>
                  <a:pt x="1692695" y="1280160"/>
                </a:cubicBezTo>
                <a:cubicBezTo>
                  <a:pt x="1606329" y="1299034"/>
                  <a:pt x="1358982" y="1222284"/>
                  <a:pt x="1207377" y="1280160"/>
                </a:cubicBezTo>
                <a:cubicBezTo>
                  <a:pt x="1055772" y="1338036"/>
                  <a:pt x="853092" y="1249107"/>
                  <a:pt x="615526" y="1280160"/>
                </a:cubicBezTo>
                <a:cubicBezTo>
                  <a:pt x="377960" y="1311213"/>
                  <a:pt x="164245" y="1211548"/>
                  <a:pt x="0" y="1280160"/>
                </a:cubicBezTo>
                <a:cubicBezTo>
                  <a:pt x="-30824" y="1169668"/>
                  <a:pt x="22133" y="1051237"/>
                  <a:pt x="0" y="827837"/>
                </a:cubicBezTo>
                <a:cubicBezTo>
                  <a:pt x="-22133" y="604437"/>
                  <a:pt x="13183" y="537607"/>
                  <a:pt x="0" y="401117"/>
                </a:cubicBezTo>
                <a:cubicBezTo>
                  <a:pt x="-13183" y="264627"/>
                  <a:pt x="42857" y="167435"/>
                  <a:pt x="0" y="0"/>
                </a:cubicBezTo>
                <a:close/>
              </a:path>
            </a:pathLst>
          </a:custGeom>
          <a:noFill/>
          <a:ln>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Times New Roman" panose="02020603050405020304" pitchFamily="18" charset="0"/>
              <a:cs typeface="Times New Roman" panose="02020603050405020304" pitchFamily="18" charset="0"/>
            </a:endParaRPr>
          </a:p>
        </p:txBody>
      </p:sp>
      <p:sp>
        <p:nvSpPr>
          <p:cNvPr id="42" name="Text Placeholder 19">
            <a:extLst>
              <a:ext uri="{FF2B5EF4-FFF2-40B4-BE49-F238E27FC236}">
                <a16:creationId xmlns:a16="http://schemas.microsoft.com/office/drawing/2014/main" id="{38AE029D-CBF8-AA03-8B9E-11529F88DAF0}"/>
              </a:ext>
            </a:extLst>
          </p:cNvPr>
          <p:cNvSpPr txBox="1">
            <a:spLocks/>
          </p:cNvSpPr>
          <p:nvPr/>
        </p:nvSpPr>
        <p:spPr>
          <a:xfrm>
            <a:off x="11314868" y="12651820"/>
            <a:ext cx="10877560" cy="6863395"/>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3200" b="1" dirty="0">
                <a:solidFill>
                  <a:schemeClr val="tx1"/>
                </a:solidFill>
              </a:rPr>
              <a:t>Flexible Resources:</a:t>
            </a:r>
            <a:r>
              <a:rPr lang="en-US" sz="3200" dirty="0">
                <a:solidFill>
                  <a:schemeClr val="tx1"/>
                </a:solidFill>
              </a:rPr>
              <a:t> Add or remove worker machines anytime during workflow.</a:t>
            </a:r>
          </a:p>
          <a:p>
            <a:r>
              <a:rPr lang="en-US" sz="3200" b="1" dirty="0">
                <a:solidFill>
                  <a:schemeClr val="tx1"/>
                </a:solidFill>
              </a:rPr>
              <a:t>On-Demand Scheduling:</a:t>
            </a:r>
            <a:r>
              <a:rPr lang="en-US" sz="3200" dirty="0">
                <a:solidFill>
                  <a:schemeClr val="tx1"/>
                </a:solidFill>
              </a:rPr>
              <a:t> Jobs assigned when requested, not pre-allocated.</a:t>
            </a:r>
          </a:p>
          <a:p>
            <a:r>
              <a:rPr lang="en-US" sz="3200" b="1" dirty="0">
                <a:solidFill>
                  <a:schemeClr val="tx1"/>
                </a:solidFill>
              </a:rPr>
              <a:t>Load-Aware Distribution:</a:t>
            </a:r>
            <a:r>
              <a:rPr lang="en-US" sz="3200" dirty="0">
                <a:solidFill>
                  <a:schemeClr val="tx1"/>
                </a:solidFill>
              </a:rPr>
              <a:t> Fast machines handle more jobs, slow ones handle fewer.</a:t>
            </a:r>
          </a:p>
          <a:p>
            <a:r>
              <a:rPr lang="en-US" sz="3200" b="1" dirty="0">
                <a:solidFill>
                  <a:schemeClr val="tx1"/>
                </a:solidFill>
              </a:rPr>
              <a:t>Failure Resilience:</a:t>
            </a:r>
            <a:r>
              <a:rPr lang="en-US" sz="3200" dirty="0">
                <a:solidFill>
                  <a:schemeClr val="tx1"/>
                </a:solidFill>
              </a:rPr>
              <a:t> Detects failed machines and reassigns jobs to healthy nodes.</a:t>
            </a:r>
          </a:p>
          <a:p>
            <a:r>
              <a:rPr lang="en-US" sz="3200" b="1" dirty="0">
                <a:solidFill>
                  <a:schemeClr val="tx1"/>
                </a:solidFill>
              </a:rPr>
              <a:t>Reduced Tail Latency:</a:t>
            </a:r>
            <a:r>
              <a:rPr lang="en-US" sz="3200" dirty="0">
                <a:solidFill>
                  <a:schemeClr val="tx1"/>
                </a:solidFill>
              </a:rPr>
              <a:t> Minimizes straggler effect → faster experiment completion.</a:t>
            </a:r>
          </a:p>
          <a:p>
            <a:r>
              <a:rPr lang="en-US" sz="3200" b="1" dirty="0">
                <a:solidFill>
                  <a:schemeClr val="tx1"/>
                </a:solidFill>
              </a:rPr>
              <a:t>Heterogeneous Friendly:</a:t>
            </a:r>
            <a:r>
              <a:rPr lang="en-US" sz="3200" dirty="0">
                <a:solidFill>
                  <a:schemeClr val="tx1"/>
                </a:solidFill>
              </a:rPr>
              <a:t> Efficiently utilizes mixed compute environments.</a:t>
            </a:r>
          </a:p>
        </p:txBody>
      </p:sp>
      <p:sp>
        <p:nvSpPr>
          <p:cNvPr id="43" name="Text Placeholder 20">
            <a:extLst>
              <a:ext uri="{FF2B5EF4-FFF2-40B4-BE49-F238E27FC236}">
                <a16:creationId xmlns:a16="http://schemas.microsoft.com/office/drawing/2014/main" id="{9C3913BC-57CD-6AF9-EBC7-52D09AB7C2FD}"/>
              </a:ext>
            </a:extLst>
          </p:cNvPr>
          <p:cNvSpPr txBox="1">
            <a:spLocks/>
          </p:cNvSpPr>
          <p:nvPr/>
        </p:nvSpPr>
        <p:spPr>
          <a:xfrm>
            <a:off x="11455126" y="12108410"/>
            <a:ext cx="10048875" cy="754045"/>
          </a:xfrm>
          <a:prstGeom prst="rect">
            <a:avLst/>
          </a:prstGeom>
          <a:noFill/>
        </p:spPr>
        <p:txBody>
          <a:bodyPr lIns="91436" tIns="91436" rIns="91436" bIns="91436" anchor="ctr" anchorCtr="0">
            <a:spAutoFit/>
          </a:bodyPr>
          <a:lstStyle>
            <a:lvl1pPr marL="0" indent="0" algn="ctr" defTabSz="4388900" rtl="0" eaLnBrk="1" latinLnBrk="0" hangingPunct="1">
              <a:spcBef>
                <a:spcPct val="20000"/>
              </a:spcBef>
              <a:buFont typeface="Arial" pitchFamily="34" charset="0"/>
              <a:buNone/>
              <a:defRPr sz="3700" b="1" u="sng" kern="1200" baseline="0">
                <a:solidFill>
                  <a:schemeClr val="accent5">
                    <a:lumMod val="50000"/>
                  </a:schemeClr>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dirty="0">
                <a:solidFill>
                  <a:schemeClr val="tx1"/>
                </a:solidFill>
                <a:latin typeface="Times New Roman" panose="02020603050405020304" pitchFamily="18" charset="0"/>
                <a:cs typeface="Times New Roman" panose="02020603050405020304" pitchFamily="18" charset="0"/>
              </a:rPr>
              <a:t>KEY CONTRIBUTIONS</a:t>
            </a:r>
          </a:p>
        </p:txBody>
      </p:sp>
      <p:sp>
        <p:nvSpPr>
          <p:cNvPr id="46" name="Text Placeholder 20">
            <a:extLst>
              <a:ext uri="{FF2B5EF4-FFF2-40B4-BE49-F238E27FC236}">
                <a16:creationId xmlns:a16="http://schemas.microsoft.com/office/drawing/2014/main" id="{22328722-41B5-B20C-8913-132E6041F66C}"/>
              </a:ext>
            </a:extLst>
          </p:cNvPr>
          <p:cNvSpPr txBox="1">
            <a:spLocks/>
          </p:cNvSpPr>
          <p:nvPr/>
        </p:nvSpPr>
        <p:spPr>
          <a:xfrm>
            <a:off x="11311249" y="19211481"/>
            <a:ext cx="10048875" cy="754045"/>
          </a:xfrm>
          <a:prstGeom prst="rect">
            <a:avLst/>
          </a:prstGeom>
          <a:noFill/>
        </p:spPr>
        <p:txBody>
          <a:bodyPr lIns="91436" tIns="91436" rIns="91436" bIns="91436" anchor="ctr" anchorCtr="0">
            <a:spAutoFit/>
          </a:bodyPr>
          <a:lstStyle>
            <a:lvl1pPr marL="0" indent="0" algn="ctr" defTabSz="4388900" rtl="0" eaLnBrk="1" latinLnBrk="0" hangingPunct="1">
              <a:spcBef>
                <a:spcPct val="20000"/>
              </a:spcBef>
              <a:buFont typeface="Arial" pitchFamily="34" charset="0"/>
              <a:buNone/>
              <a:defRPr sz="3700" b="1" u="sng" kern="1200" baseline="0">
                <a:solidFill>
                  <a:schemeClr val="accent5">
                    <a:lumMod val="50000"/>
                  </a:schemeClr>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dirty="0">
                <a:solidFill>
                  <a:schemeClr val="tx1"/>
                </a:solidFill>
                <a:latin typeface="Times New Roman" panose="02020603050405020304" pitchFamily="18" charset="0"/>
                <a:cs typeface="Times New Roman" panose="02020603050405020304" pitchFamily="18" charset="0"/>
              </a:rPr>
              <a:t>ARCHITECTURE AND COMPONENTS</a:t>
            </a:r>
          </a:p>
        </p:txBody>
      </p:sp>
      <p:pic>
        <p:nvPicPr>
          <p:cNvPr id="1026" name="Picture 2" descr="University of Central Florida Logo and symbol, meaning ...">
            <a:extLst>
              <a:ext uri="{FF2B5EF4-FFF2-40B4-BE49-F238E27FC236}">
                <a16:creationId xmlns:a16="http://schemas.microsoft.com/office/drawing/2014/main" id="{498F8C08-4552-3357-3D2B-09A6BEDA203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490400" y="6635"/>
            <a:ext cx="6416629" cy="4634233"/>
          </a:xfrm>
          <a:prstGeom prst="rect">
            <a:avLst/>
          </a:prstGeom>
          <a:noFill/>
          <a:extLst>
            <a:ext uri="{909E8E84-426E-40DD-AFC4-6F175D3DCCD1}">
              <a14:hiddenFill xmlns:a14="http://schemas.microsoft.com/office/drawing/2010/main">
                <a:solidFill>
                  <a:srgbClr val="FFFFFF"/>
                </a:solidFill>
              </a14:hiddenFill>
            </a:ext>
          </a:extLst>
        </p:spPr>
      </p:pic>
      <p:sp>
        <p:nvSpPr>
          <p:cNvPr id="48" name="Rectangle 47">
            <a:extLst>
              <a:ext uri="{FF2B5EF4-FFF2-40B4-BE49-F238E27FC236}">
                <a16:creationId xmlns:a16="http://schemas.microsoft.com/office/drawing/2014/main" id="{A5FD0AEB-7BA0-0887-6459-A7EA6FDF8593}"/>
              </a:ext>
            </a:extLst>
          </p:cNvPr>
          <p:cNvSpPr/>
          <p:nvPr/>
        </p:nvSpPr>
        <p:spPr>
          <a:xfrm>
            <a:off x="22531078" y="16928933"/>
            <a:ext cx="10517878" cy="7189852"/>
          </a:xfrm>
          <a:prstGeom prst="rect">
            <a:avLst/>
          </a:prstGeom>
          <a:noFill/>
          <a:ln w="38100">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Times New Roman" panose="02020603050405020304" pitchFamily="18" charset="0"/>
              <a:cs typeface="Times New Roman" panose="02020603050405020304" pitchFamily="18" charset="0"/>
            </a:endParaRPr>
          </a:p>
        </p:txBody>
      </p:sp>
      <p:sp>
        <p:nvSpPr>
          <p:cNvPr id="49" name="Rectangle 48">
            <a:extLst>
              <a:ext uri="{FF2B5EF4-FFF2-40B4-BE49-F238E27FC236}">
                <a16:creationId xmlns:a16="http://schemas.microsoft.com/office/drawing/2014/main" id="{D9A33C6C-935B-8C02-D03F-AF7483242C40}"/>
              </a:ext>
            </a:extLst>
          </p:cNvPr>
          <p:cNvSpPr/>
          <p:nvPr/>
        </p:nvSpPr>
        <p:spPr>
          <a:xfrm>
            <a:off x="22560105" y="24476986"/>
            <a:ext cx="10491535" cy="7165912"/>
          </a:xfrm>
          <a:prstGeom prst="rect">
            <a:avLst/>
          </a:prstGeom>
          <a:noFill/>
          <a:ln w="38100">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Times New Roman" panose="02020603050405020304" pitchFamily="18" charset="0"/>
              <a:cs typeface="Times New Roman" panose="02020603050405020304" pitchFamily="18" charset="0"/>
            </a:endParaRPr>
          </a:p>
        </p:txBody>
      </p:sp>
      <p:sp>
        <p:nvSpPr>
          <p:cNvPr id="68" name="Text Placeholder 22">
            <a:extLst>
              <a:ext uri="{FF2B5EF4-FFF2-40B4-BE49-F238E27FC236}">
                <a16:creationId xmlns:a16="http://schemas.microsoft.com/office/drawing/2014/main" id="{E1A54DFE-0E82-E61B-1EBC-993FEE6A75F8}"/>
              </a:ext>
            </a:extLst>
          </p:cNvPr>
          <p:cNvSpPr txBox="1">
            <a:spLocks/>
          </p:cNvSpPr>
          <p:nvPr/>
        </p:nvSpPr>
        <p:spPr>
          <a:xfrm>
            <a:off x="22196593" y="5624436"/>
            <a:ext cx="10058400" cy="754045"/>
          </a:xfrm>
          <a:prstGeom prst="rect">
            <a:avLst/>
          </a:prstGeom>
          <a:noFill/>
        </p:spPr>
        <p:txBody>
          <a:bodyPr lIns="91436" tIns="91436" rIns="91436" bIns="91436" anchor="ctr" anchorCtr="0">
            <a:spAutoFit/>
          </a:bodyPr>
          <a:lstStyle>
            <a:lvl1pPr marL="0" indent="0" algn="ctr" defTabSz="4388900" rtl="0" eaLnBrk="1" latinLnBrk="0" hangingPunct="1">
              <a:spcBef>
                <a:spcPct val="20000"/>
              </a:spcBef>
              <a:buFont typeface="Arial" pitchFamily="34" charset="0"/>
              <a:buNone/>
              <a:defRPr sz="3700" b="1" u="sng" kern="1200" baseline="0">
                <a:solidFill>
                  <a:schemeClr val="accent5">
                    <a:lumMod val="50000"/>
                  </a:schemeClr>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dirty="0">
                <a:solidFill>
                  <a:schemeClr val="tx1"/>
                </a:solidFill>
                <a:latin typeface="Times New Roman" panose="02020603050405020304" pitchFamily="18" charset="0"/>
                <a:cs typeface="Times New Roman" panose="02020603050405020304" pitchFamily="18" charset="0"/>
              </a:rPr>
              <a:t>JOB LIFECYCLE</a:t>
            </a:r>
          </a:p>
        </p:txBody>
      </p:sp>
      <p:sp>
        <p:nvSpPr>
          <p:cNvPr id="73" name="TextBox 72">
            <a:extLst>
              <a:ext uri="{FF2B5EF4-FFF2-40B4-BE49-F238E27FC236}">
                <a16:creationId xmlns:a16="http://schemas.microsoft.com/office/drawing/2014/main" id="{621F504D-9861-AC68-9903-43700A6E98C5}"/>
              </a:ext>
            </a:extLst>
          </p:cNvPr>
          <p:cNvSpPr txBox="1"/>
          <p:nvPr/>
        </p:nvSpPr>
        <p:spPr>
          <a:xfrm>
            <a:off x="22961600" y="12163891"/>
            <a:ext cx="10312827" cy="477054"/>
          </a:xfrm>
          <a:prstGeom prst="rect">
            <a:avLst/>
          </a:prstGeom>
        </p:spPr>
        <p:txBody>
          <a:bodyPr wrap="square" rtlCol="0">
            <a:spAutoFit/>
          </a:bodyPr>
          <a:lstStyle/>
          <a:p>
            <a:endParaRPr lang="en-US" sz="2500" dirty="0">
              <a:latin typeface="Times New Roman" panose="02020603050405020304" pitchFamily="18" charset="0"/>
              <a:cs typeface="Times New Roman" panose="02020603050405020304" pitchFamily="18" charset="0"/>
            </a:endParaRPr>
          </a:p>
        </p:txBody>
      </p:sp>
      <p:sp>
        <p:nvSpPr>
          <p:cNvPr id="75" name="TextBox 74">
            <a:extLst>
              <a:ext uri="{FF2B5EF4-FFF2-40B4-BE49-F238E27FC236}">
                <a16:creationId xmlns:a16="http://schemas.microsoft.com/office/drawing/2014/main" id="{80F2684B-1919-A36B-D59C-B3E8154DE18E}"/>
              </a:ext>
            </a:extLst>
          </p:cNvPr>
          <p:cNvSpPr txBox="1"/>
          <p:nvPr/>
        </p:nvSpPr>
        <p:spPr>
          <a:xfrm>
            <a:off x="22724644" y="6657292"/>
            <a:ext cx="10323678" cy="6001643"/>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A job moves from </a:t>
            </a:r>
            <a:r>
              <a:rPr lang="en-US" sz="3200" b="1" dirty="0">
                <a:latin typeface="Times New Roman" panose="02020603050405020304" pitchFamily="18" charset="0"/>
                <a:cs typeface="Times New Roman" panose="02020603050405020304" pitchFamily="18" charset="0"/>
              </a:rPr>
              <a:t>UNASSIGNED</a:t>
            </a:r>
            <a:r>
              <a:rPr lang="en-US" sz="3200" dirty="0">
                <a:latin typeface="Times New Roman" panose="02020603050405020304" pitchFamily="18" charset="0"/>
                <a:cs typeface="Times New Roman" panose="02020603050405020304" pitchFamily="18" charset="0"/>
              </a:rPr>
              <a:t> to </a:t>
            </a:r>
            <a:r>
              <a:rPr lang="en-US" sz="3200" b="1" dirty="0">
                <a:latin typeface="Times New Roman" panose="02020603050405020304" pitchFamily="18" charset="0"/>
                <a:cs typeface="Times New Roman" panose="02020603050405020304" pitchFamily="18" charset="0"/>
              </a:rPr>
              <a:t>RUNNING</a:t>
            </a:r>
            <a:r>
              <a:rPr lang="en-US" sz="3200" dirty="0">
                <a:latin typeface="Times New Roman" panose="02020603050405020304" pitchFamily="18" charset="0"/>
                <a:cs typeface="Times New Roman" panose="02020603050405020304" pitchFamily="18" charset="0"/>
              </a:rPr>
              <a:t> when a worker requests it.</a:t>
            </a:r>
          </a:p>
          <a:p>
            <a:r>
              <a:rPr lang="en-US" sz="3200" dirty="0">
                <a:latin typeface="Times New Roman" panose="02020603050405020304" pitchFamily="18" charset="0"/>
                <a:cs typeface="Times New Roman" panose="02020603050405020304" pitchFamily="18" charset="0"/>
              </a:rPr>
              <a:t>While </a:t>
            </a:r>
            <a:r>
              <a:rPr lang="en-US" sz="3200" b="1" dirty="0">
                <a:latin typeface="Times New Roman" panose="02020603050405020304" pitchFamily="18" charset="0"/>
                <a:cs typeface="Times New Roman" panose="02020603050405020304" pitchFamily="18" charset="0"/>
              </a:rPr>
              <a:t>RUNNING</a:t>
            </a:r>
            <a:r>
              <a:rPr lang="en-US" sz="3200" dirty="0">
                <a:latin typeface="Times New Roman" panose="02020603050405020304" pitchFamily="18" charset="0"/>
                <a:cs typeface="Times New Roman" panose="02020603050405020304" pitchFamily="18" charset="0"/>
              </a:rPr>
              <a:t>, three things can happen:</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2.1) It finishes successfully → goes to </a:t>
            </a:r>
            <a:r>
              <a:rPr lang="en-US" sz="3200" b="1" dirty="0">
                <a:latin typeface="Times New Roman" panose="02020603050405020304" pitchFamily="18" charset="0"/>
                <a:cs typeface="Times New Roman" panose="02020603050405020304" pitchFamily="18" charset="0"/>
              </a:rPr>
              <a:t>DONE</a:t>
            </a:r>
            <a:r>
              <a:rPr lang="en-US" sz="3200" dirty="0">
                <a:latin typeface="Times New Roman" panose="02020603050405020304" pitchFamily="18" charset="0"/>
                <a:cs typeface="Times New Roman" panose="02020603050405020304" pitchFamily="18" charset="0"/>
              </a:rPr>
              <a:t>.</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2.2) It fails (e.g., OOM or runtime error) → goes to </a:t>
            </a:r>
            <a:r>
              <a:rPr lang="en-US" sz="3200" b="1" dirty="0">
                <a:latin typeface="Times New Roman" panose="02020603050405020304" pitchFamily="18" charset="0"/>
                <a:cs typeface="Times New Roman" panose="02020603050405020304" pitchFamily="18" charset="0"/>
              </a:rPr>
              <a:t>ABORTED</a:t>
            </a:r>
            <a:r>
              <a:rPr lang="en-US" sz="3200" dirty="0">
                <a:latin typeface="Times New Roman" panose="02020603050405020304" pitchFamily="18" charset="0"/>
                <a:cs typeface="Times New Roman" panose="02020603050405020304" pitchFamily="18" charset="0"/>
              </a:rPr>
              <a:t>.</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2.3) The worker shuts down; after a timeout → job returns to </a:t>
            </a:r>
            <a:r>
              <a:rPr lang="en-US" sz="3200" b="1" dirty="0">
                <a:latin typeface="Times New Roman" panose="02020603050405020304" pitchFamily="18" charset="0"/>
                <a:cs typeface="Times New Roman" panose="02020603050405020304" pitchFamily="18" charset="0"/>
              </a:rPr>
              <a:t>UNASSIGNED</a:t>
            </a:r>
            <a:r>
              <a:rPr lang="en-US" sz="3200" dirty="0">
                <a:latin typeface="Times New Roman" panose="02020603050405020304" pitchFamily="18" charset="0"/>
                <a:cs typeface="Times New Roman" panose="02020603050405020304" pitchFamily="18" charset="0"/>
              </a:rPr>
              <a:t>.</a:t>
            </a:r>
          </a:p>
          <a:p>
            <a:r>
              <a:rPr lang="en-US" sz="3200" b="1" dirty="0">
                <a:latin typeface="Times New Roman" panose="02020603050405020304" pitchFamily="18" charset="0"/>
                <a:cs typeface="Times New Roman" panose="02020603050405020304" pitchFamily="18" charset="0"/>
              </a:rPr>
              <a:t>ABORTED</a:t>
            </a:r>
            <a:r>
              <a:rPr lang="en-US" sz="3200" dirty="0">
                <a:latin typeface="Times New Roman" panose="02020603050405020304" pitchFamily="18" charset="0"/>
                <a:cs typeface="Times New Roman" panose="02020603050405020304" pitchFamily="18" charset="0"/>
              </a:rPr>
              <a:t> jobs wait a short grace period, then move back to </a:t>
            </a:r>
            <a:r>
              <a:rPr lang="en-US" sz="3200" b="1" dirty="0">
                <a:latin typeface="Times New Roman" panose="02020603050405020304" pitchFamily="18" charset="0"/>
                <a:cs typeface="Times New Roman" panose="02020603050405020304" pitchFamily="18" charset="0"/>
              </a:rPr>
              <a:t>UNASSIGNED</a:t>
            </a:r>
            <a:r>
              <a:rPr lang="en-US" sz="3200" dirty="0">
                <a:latin typeface="Times New Roman" panose="02020603050405020304" pitchFamily="18" charset="0"/>
                <a:cs typeface="Times New Roman" panose="02020603050405020304" pitchFamily="18" charset="0"/>
              </a:rPr>
              <a:t> so the distributor can reassign them to another worker.</a:t>
            </a:r>
          </a:p>
          <a:p>
            <a:endParaRPr lang="en-US" sz="3200" dirty="0">
              <a:latin typeface="Times New Roman" panose="02020603050405020304" pitchFamily="18" charset="0"/>
              <a:cs typeface="Times New Roman" panose="02020603050405020304" pitchFamily="18" charset="0"/>
            </a:endParaRPr>
          </a:p>
        </p:txBody>
      </p:sp>
      <p:pic>
        <p:nvPicPr>
          <p:cNvPr id="79" name="Picture 78">
            <a:extLst>
              <a:ext uri="{FF2B5EF4-FFF2-40B4-BE49-F238E27FC236}">
                <a16:creationId xmlns:a16="http://schemas.microsoft.com/office/drawing/2014/main" id="{673D9B14-E95E-6D1A-4C42-344735F62A63}"/>
              </a:ext>
            </a:extLst>
          </p:cNvPr>
          <p:cNvPicPr>
            <a:picLocks noChangeAspect="1"/>
          </p:cNvPicPr>
          <p:nvPr/>
        </p:nvPicPr>
        <p:blipFill>
          <a:blip r:embed="rId8"/>
          <a:stretch>
            <a:fillRect/>
          </a:stretch>
        </p:blipFill>
        <p:spPr>
          <a:xfrm>
            <a:off x="22531078" y="12086889"/>
            <a:ext cx="10517244" cy="3803622"/>
          </a:xfrm>
          <a:prstGeom prst="rect">
            <a:avLst/>
          </a:prstGeom>
        </p:spPr>
      </p:pic>
      <p:pic>
        <p:nvPicPr>
          <p:cNvPr id="81" name="Picture 80">
            <a:extLst>
              <a:ext uri="{FF2B5EF4-FFF2-40B4-BE49-F238E27FC236}">
                <a16:creationId xmlns:a16="http://schemas.microsoft.com/office/drawing/2014/main" id="{D3DA44A0-E61F-8681-F121-7A94E4E8F50A}"/>
              </a:ext>
            </a:extLst>
          </p:cNvPr>
          <p:cNvPicPr>
            <a:picLocks noChangeAspect="1"/>
          </p:cNvPicPr>
          <p:nvPr/>
        </p:nvPicPr>
        <p:blipFill>
          <a:blip r:embed="rId9"/>
          <a:stretch>
            <a:fillRect/>
          </a:stretch>
        </p:blipFill>
        <p:spPr>
          <a:xfrm>
            <a:off x="33274427" y="6637509"/>
            <a:ext cx="9936595" cy="5326431"/>
          </a:xfrm>
          <a:prstGeom prst="rect">
            <a:avLst/>
          </a:prstGeom>
        </p:spPr>
      </p:pic>
      <p:sp>
        <p:nvSpPr>
          <p:cNvPr id="82" name="TextBox 81">
            <a:extLst>
              <a:ext uri="{FF2B5EF4-FFF2-40B4-BE49-F238E27FC236}">
                <a16:creationId xmlns:a16="http://schemas.microsoft.com/office/drawing/2014/main" id="{D3C18207-5B01-3246-17E9-480DE6E18E75}"/>
              </a:ext>
            </a:extLst>
          </p:cNvPr>
          <p:cNvSpPr txBox="1"/>
          <p:nvPr/>
        </p:nvSpPr>
        <p:spPr>
          <a:xfrm>
            <a:off x="33433934" y="12061432"/>
            <a:ext cx="9819240" cy="1569660"/>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Figure</a:t>
            </a:r>
            <a:r>
              <a:rPr lang="en-US" sz="3200" dirty="0">
                <a:latin typeface="Times New Roman" panose="02020603050405020304" pitchFamily="18" charset="0"/>
                <a:cs typeface="Times New Roman" panose="02020603050405020304" pitchFamily="18" charset="0"/>
              </a:rPr>
              <a:t>: Performance comparison of static and dynamic scheduling. The figure shows the vast performance difference between the two approaches.</a:t>
            </a:r>
          </a:p>
        </p:txBody>
      </p:sp>
      <p:sp>
        <p:nvSpPr>
          <p:cNvPr id="87" name="TextBox 86">
            <a:extLst>
              <a:ext uri="{FF2B5EF4-FFF2-40B4-BE49-F238E27FC236}">
                <a16:creationId xmlns:a16="http://schemas.microsoft.com/office/drawing/2014/main" id="{BD16789D-029E-1453-6AC8-6E0997A80D68}"/>
              </a:ext>
            </a:extLst>
          </p:cNvPr>
          <p:cNvSpPr txBox="1"/>
          <p:nvPr/>
        </p:nvSpPr>
        <p:spPr>
          <a:xfrm>
            <a:off x="33390291" y="14721074"/>
            <a:ext cx="9853043" cy="4663874"/>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Machines have </a:t>
            </a:r>
            <a:r>
              <a:rPr lang="en-US" sz="3200" b="1" dirty="0">
                <a:latin typeface="Times New Roman" panose="02020603050405020304" pitchFamily="18" charset="0"/>
                <a:cs typeface="Times New Roman" panose="02020603050405020304" pitchFamily="18" charset="0"/>
              </a:rPr>
              <a:t>different speeds</a:t>
            </a:r>
            <a:r>
              <a:rPr lang="en-US" sz="3200" dirty="0">
                <a:latin typeface="Times New Roman" panose="02020603050405020304" pitchFamily="18" charset="0"/>
                <a:cs typeface="Times New Roman" panose="02020603050405020304" pitchFamily="18" charset="0"/>
              </a:rPr>
              <a:t> — faster ones complete jobs in less time.</a:t>
            </a:r>
          </a:p>
          <a:p>
            <a:r>
              <a:rPr lang="en-US" sz="3200" b="1" dirty="0">
                <a:latin typeface="Times New Roman" panose="02020603050405020304" pitchFamily="18" charset="0"/>
                <a:cs typeface="Times New Roman" panose="02020603050405020304" pitchFamily="18" charset="0"/>
              </a:rPr>
              <a:t>DART dynamically assigns more jobs</a:t>
            </a:r>
            <a:r>
              <a:rPr lang="en-US" sz="3200" dirty="0">
                <a:latin typeface="Times New Roman" panose="02020603050405020304" pitchFamily="18" charset="0"/>
                <a:cs typeface="Times New Roman" panose="02020603050405020304" pitchFamily="18" charset="0"/>
              </a:rPr>
              <a:t> to faster machines, reducing overall </a:t>
            </a:r>
            <a:r>
              <a:rPr lang="en-US" sz="3200" dirty="0" err="1">
                <a:latin typeface="Times New Roman" panose="02020603050405020304" pitchFamily="18" charset="0"/>
                <a:cs typeface="Times New Roman" panose="02020603050405020304" pitchFamily="18" charset="0"/>
              </a:rPr>
              <a:t>makespan</a:t>
            </a:r>
            <a:r>
              <a:rPr lang="en-US" sz="3200" dirty="0">
                <a:latin typeface="Times New Roman" panose="02020603050405020304" pitchFamily="18" charset="0"/>
                <a:cs typeface="Times New Roman" panose="02020603050405020304" pitchFamily="18" charset="0"/>
              </a:rPr>
              <a:t>.</a:t>
            </a:r>
          </a:p>
          <a:p>
            <a:r>
              <a:rPr lang="en-US" sz="3200" b="1" dirty="0">
                <a:latin typeface="Times New Roman" panose="02020603050405020304" pitchFamily="18" charset="0"/>
                <a:cs typeface="Times New Roman" panose="02020603050405020304" pitchFamily="18" charset="0"/>
              </a:rPr>
              <a:t>Observation:</a:t>
            </a:r>
            <a:r>
              <a:rPr lang="en-US" sz="3200" dirty="0">
                <a:latin typeface="Times New Roman" panose="02020603050405020304" pitchFamily="18" charset="0"/>
                <a:cs typeface="Times New Roman" panose="02020603050405020304" pitchFamily="18" charset="0"/>
              </a:rPr>
              <a:t> Clear inverse correlation between machine runtime and number of jobs assigned.</a:t>
            </a:r>
          </a:p>
          <a:p>
            <a:r>
              <a:rPr lang="en-US" sz="3200" b="1" dirty="0">
                <a:latin typeface="Times New Roman" panose="02020603050405020304" pitchFamily="18" charset="0"/>
                <a:cs typeface="Times New Roman" panose="02020603050405020304" pitchFamily="18" charset="0"/>
              </a:rPr>
              <a:t>Real-world factors</a:t>
            </a:r>
            <a:r>
              <a:rPr lang="en-US" sz="3200" dirty="0">
                <a:latin typeface="Times New Roman" panose="02020603050405020304" pitchFamily="18" charset="0"/>
                <a:cs typeface="Times New Roman" panose="02020603050405020304" pitchFamily="18" charset="0"/>
              </a:rPr>
              <a:t> (e.g., job failures, task variability, node availability) cause small deviations but overall trend is strong.</a:t>
            </a:r>
          </a:p>
        </p:txBody>
      </p:sp>
      <p:pic>
        <p:nvPicPr>
          <p:cNvPr id="89" name="Picture 88">
            <a:extLst>
              <a:ext uri="{FF2B5EF4-FFF2-40B4-BE49-F238E27FC236}">
                <a16:creationId xmlns:a16="http://schemas.microsoft.com/office/drawing/2014/main" id="{217337B6-94C6-74D4-41DF-E254BAE97C9E}"/>
              </a:ext>
            </a:extLst>
          </p:cNvPr>
          <p:cNvPicPr>
            <a:picLocks noChangeAspect="1"/>
          </p:cNvPicPr>
          <p:nvPr/>
        </p:nvPicPr>
        <p:blipFill>
          <a:blip r:embed="rId10"/>
          <a:stretch>
            <a:fillRect/>
          </a:stretch>
        </p:blipFill>
        <p:spPr>
          <a:xfrm>
            <a:off x="33390291" y="19541030"/>
            <a:ext cx="10284967" cy="4448737"/>
          </a:xfrm>
          <a:prstGeom prst="rect">
            <a:avLst/>
          </a:prstGeom>
        </p:spPr>
      </p:pic>
      <p:sp>
        <p:nvSpPr>
          <p:cNvPr id="100" name="Text Placeholder 22">
            <a:extLst>
              <a:ext uri="{FF2B5EF4-FFF2-40B4-BE49-F238E27FC236}">
                <a16:creationId xmlns:a16="http://schemas.microsoft.com/office/drawing/2014/main" id="{303593CE-E9B0-6913-1A37-280A9CF589F7}"/>
              </a:ext>
            </a:extLst>
          </p:cNvPr>
          <p:cNvSpPr txBox="1">
            <a:spLocks/>
          </p:cNvSpPr>
          <p:nvPr/>
        </p:nvSpPr>
        <p:spPr>
          <a:xfrm>
            <a:off x="22428872" y="16032699"/>
            <a:ext cx="10048875" cy="754045"/>
          </a:xfrm>
          <a:prstGeom prst="rect">
            <a:avLst/>
          </a:prstGeom>
          <a:noFill/>
        </p:spPr>
        <p:txBody>
          <a:bodyPr lIns="91436" tIns="91436" rIns="91436" bIns="91436" anchor="ctr" anchorCtr="0">
            <a:spAutoFit/>
          </a:bodyPr>
          <a:lstStyle>
            <a:lvl1pPr marL="0" indent="0" algn="ctr" defTabSz="4388900" rtl="0" eaLnBrk="1" latinLnBrk="0" hangingPunct="1">
              <a:spcBef>
                <a:spcPct val="20000"/>
              </a:spcBef>
              <a:buFont typeface="Arial" pitchFamily="34" charset="0"/>
              <a:buNone/>
              <a:defRPr sz="3700" b="1" u="sng" kern="1200" baseline="0">
                <a:solidFill>
                  <a:schemeClr val="accent5">
                    <a:lumMod val="50000"/>
                  </a:schemeClr>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a:solidFill>
                  <a:schemeClr val="tx1"/>
                </a:solidFill>
                <a:latin typeface="Times New Roman" panose="02020603050405020304" pitchFamily="18" charset="0"/>
                <a:cs typeface="Times New Roman" panose="02020603050405020304" pitchFamily="18" charset="0"/>
              </a:rPr>
              <a:t>DART DASHBOARD</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101" name="TextBox 100">
            <a:extLst>
              <a:ext uri="{FF2B5EF4-FFF2-40B4-BE49-F238E27FC236}">
                <a16:creationId xmlns:a16="http://schemas.microsoft.com/office/drawing/2014/main" id="{CF8891D2-DA8B-3635-83D8-B4A263182694}"/>
              </a:ext>
            </a:extLst>
          </p:cNvPr>
          <p:cNvSpPr txBox="1"/>
          <p:nvPr/>
        </p:nvSpPr>
        <p:spPr>
          <a:xfrm>
            <a:off x="11455126" y="29240368"/>
            <a:ext cx="10709289" cy="255454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Figure</a:t>
            </a:r>
            <a:r>
              <a:rPr lang="en-US" sz="3200" dirty="0">
                <a:latin typeface="Times New Roman" panose="02020603050405020304" pitchFamily="18" charset="0"/>
                <a:cs typeface="Times New Roman" panose="02020603050405020304" pitchFamily="18" charset="0"/>
              </a:rPr>
              <a:t>: System architecture and job flow of the DART frame-</a:t>
            </a:r>
          </a:p>
          <a:p>
            <a:r>
              <a:rPr lang="en-US" sz="3200" dirty="0">
                <a:latin typeface="Times New Roman" panose="02020603050405020304" pitchFamily="18" charset="0"/>
                <a:cs typeface="Times New Roman" panose="02020603050405020304" pitchFamily="18" charset="0"/>
              </a:rPr>
              <a:t>work. Flows: (</a:t>
            </a:r>
            <a:r>
              <a:rPr lang="en-US" sz="3200" dirty="0" err="1">
                <a:latin typeface="Times New Roman" panose="02020603050405020304" pitchFamily="18" charset="0"/>
                <a:cs typeface="Times New Roman" panose="02020603050405020304" pitchFamily="18" charset="0"/>
              </a:rPr>
              <a:t>a.x</a:t>
            </a:r>
            <a:r>
              <a:rPr lang="en-US" sz="3200" dirty="0">
                <a:latin typeface="Times New Roman" panose="02020603050405020304" pitchFamily="18" charset="0"/>
                <a:cs typeface="Times New Roman" panose="02020603050405020304" pitchFamily="18" charset="0"/>
              </a:rPr>
              <a:t>) is the main job assignment and execution</a:t>
            </a:r>
          </a:p>
          <a:p>
            <a:r>
              <a:rPr lang="en-US" sz="3200" dirty="0">
                <a:latin typeface="Times New Roman" panose="02020603050405020304" pitchFamily="18" charset="0"/>
                <a:cs typeface="Times New Roman" panose="02020603050405020304" pitchFamily="18" charset="0"/>
              </a:rPr>
              <a:t>flow throughout the system; (</a:t>
            </a:r>
            <a:r>
              <a:rPr lang="en-US" sz="3200" dirty="0" err="1">
                <a:latin typeface="Times New Roman" panose="02020603050405020304" pitchFamily="18" charset="0"/>
                <a:cs typeface="Times New Roman" panose="02020603050405020304" pitchFamily="18" charset="0"/>
              </a:rPr>
              <a:t>b.x</a:t>
            </a:r>
            <a:r>
              <a:rPr lang="en-US" sz="3200" dirty="0">
                <a:latin typeface="Times New Roman" panose="02020603050405020304" pitchFamily="18" charset="0"/>
                <a:cs typeface="Times New Roman" panose="02020603050405020304" pitchFamily="18" charset="0"/>
              </a:rPr>
              <a:t>) is the information flow</a:t>
            </a:r>
          </a:p>
          <a:p>
            <a:r>
              <a:rPr lang="en-US" sz="3200" dirty="0">
                <a:latin typeface="Times New Roman" panose="02020603050405020304" pitchFamily="18" charset="0"/>
                <a:cs typeface="Times New Roman" panose="02020603050405020304" pitchFamily="18" charset="0"/>
              </a:rPr>
              <a:t>between database and dashboard; (</a:t>
            </a:r>
            <a:r>
              <a:rPr lang="en-US" sz="3200" dirty="0" err="1">
                <a:latin typeface="Times New Roman" panose="02020603050405020304" pitchFamily="18" charset="0"/>
                <a:cs typeface="Times New Roman" panose="02020603050405020304" pitchFamily="18" charset="0"/>
              </a:rPr>
              <a:t>c.x</a:t>
            </a:r>
            <a:r>
              <a:rPr lang="en-US" sz="3200" dirty="0">
                <a:latin typeface="Times New Roman" panose="02020603050405020304" pitchFamily="18" charset="0"/>
                <a:cs typeface="Times New Roman" panose="02020603050405020304" pitchFamily="18" charset="0"/>
              </a:rPr>
              <a:t>) is the handles fault</a:t>
            </a:r>
          </a:p>
          <a:p>
            <a:r>
              <a:rPr lang="en-US" sz="3200" dirty="0">
                <a:latin typeface="Times New Roman" panose="02020603050405020304" pitchFamily="18" charset="0"/>
                <a:cs typeface="Times New Roman" panose="02020603050405020304" pitchFamily="18" charset="0"/>
              </a:rPr>
              <a:t>tolerance of system between job cleaner and database.</a:t>
            </a:r>
          </a:p>
        </p:txBody>
      </p:sp>
      <p:sp>
        <p:nvSpPr>
          <p:cNvPr id="104" name="TextBox 103">
            <a:extLst>
              <a:ext uri="{FF2B5EF4-FFF2-40B4-BE49-F238E27FC236}">
                <a16:creationId xmlns:a16="http://schemas.microsoft.com/office/drawing/2014/main" id="{50BA0AAA-5513-0464-061C-90A81CF886B2}"/>
              </a:ext>
            </a:extLst>
          </p:cNvPr>
          <p:cNvSpPr txBox="1"/>
          <p:nvPr/>
        </p:nvSpPr>
        <p:spPr>
          <a:xfrm>
            <a:off x="33504181" y="24006763"/>
            <a:ext cx="9819240" cy="2062103"/>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Figure</a:t>
            </a:r>
            <a:r>
              <a:rPr lang="en-US" sz="3200" dirty="0">
                <a:latin typeface="Times New Roman" panose="02020603050405020304" pitchFamily="18" charset="0"/>
                <a:cs typeface="Times New Roman" panose="02020603050405020304" pitchFamily="18" charset="0"/>
              </a:rPr>
              <a:t>:  Task count vs. average task runtime, illustrating the inverse correlation between machine speed and job count and demonstrating how DART leverages resource heterogeneity.</a:t>
            </a:r>
          </a:p>
        </p:txBody>
      </p:sp>
      <p:pic>
        <p:nvPicPr>
          <p:cNvPr id="106" name="Graphic 105">
            <a:extLst>
              <a:ext uri="{FF2B5EF4-FFF2-40B4-BE49-F238E27FC236}">
                <a16:creationId xmlns:a16="http://schemas.microsoft.com/office/drawing/2014/main" id="{197E503C-9D05-2E11-CEFE-444CF3FE98E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4463037" y="27640128"/>
            <a:ext cx="3637144" cy="4389185"/>
          </a:xfrm>
          <a:prstGeom prst="rect">
            <a:avLst/>
          </a:prstGeom>
        </p:spPr>
      </p:pic>
      <p:pic>
        <p:nvPicPr>
          <p:cNvPr id="108" name="Graphic 107">
            <a:extLst>
              <a:ext uri="{FF2B5EF4-FFF2-40B4-BE49-F238E27FC236}">
                <a16:creationId xmlns:a16="http://schemas.microsoft.com/office/drawing/2014/main" id="{FF5557F2-9DBD-A0EF-34F4-D4462AECB14A}"/>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9288791" y="27891872"/>
            <a:ext cx="3122432" cy="3903041"/>
          </a:xfrm>
          <a:prstGeom prst="rect">
            <a:avLst/>
          </a:prstGeom>
        </p:spPr>
      </p:pic>
      <p:pic>
        <p:nvPicPr>
          <p:cNvPr id="110" name="Picture 109">
            <a:extLst>
              <a:ext uri="{FF2B5EF4-FFF2-40B4-BE49-F238E27FC236}">
                <a16:creationId xmlns:a16="http://schemas.microsoft.com/office/drawing/2014/main" id="{6DFE79B3-C0E3-B757-1AAF-A2D72FF6F9BC}"/>
              </a:ext>
            </a:extLst>
          </p:cNvPr>
          <p:cNvPicPr>
            <a:picLocks noChangeAspect="1"/>
          </p:cNvPicPr>
          <p:nvPr/>
        </p:nvPicPr>
        <p:blipFill>
          <a:blip r:embed="rId15"/>
          <a:stretch>
            <a:fillRect/>
          </a:stretch>
        </p:blipFill>
        <p:spPr>
          <a:xfrm>
            <a:off x="501288" y="26548934"/>
            <a:ext cx="10688106" cy="5235434"/>
          </a:xfrm>
          <a:prstGeom prst="rect">
            <a:avLst/>
          </a:prstGeom>
        </p:spPr>
      </p:pic>
      <p:pic>
        <p:nvPicPr>
          <p:cNvPr id="112" name="Picture 111">
            <a:extLst>
              <a:ext uri="{FF2B5EF4-FFF2-40B4-BE49-F238E27FC236}">
                <a16:creationId xmlns:a16="http://schemas.microsoft.com/office/drawing/2014/main" id="{48A2C0EB-BCC1-CB3D-31F3-74D07E5ADB4E}"/>
              </a:ext>
            </a:extLst>
          </p:cNvPr>
          <p:cNvPicPr>
            <a:picLocks noChangeAspect="1"/>
          </p:cNvPicPr>
          <p:nvPr/>
        </p:nvPicPr>
        <p:blipFill>
          <a:blip r:embed="rId16"/>
          <a:stretch>
            <a:fillRect/>
          </a:stretch>
        </p:blipFill>
        <p:spPr>
          <a:xfrm>
            <a:off x="11455126" y="6606765"/>
            <a:ext cx="10674963" cy="5326431"/>
          </a:xfrm>
          <a:prstGeom prst="rect">
            <a:avLst/>
          </a:prstGeom>
        </p:spPr>
      </p:pic>
      <p:pic>
        <p:nvPicPr>
          <p:cNvPr id="2" name="Picture 1">
            <a:extLst>
              <a:ext uri="{FF2B5EF4-FFF2-40B4-BE49-F238E27FC236}">
                <a16:creationId xmlns:a16="http://schemas.microsoft.com/office/drawing/2014/main" id="{DB46BF3F-2B67-2501-F6B2-9578A4D9EB69}"/>
              </a:ext>
            </a:extLst>
          </p:cNvPr>
          <p:cNvPicPr>
            <a:picLocks noChangeAspect="1"/>
          </p:cNvPicPr>
          <p:nvPr/>
        </p:nvPicPr>
        <p:blipFill>
          <a:blip r:embed="rId15"/>
          <a:stretch>
            <a:fillRect/>
          </a:stretch>
        </p:blipFill>
        <p:spPr>
          <a:xfrm>
            <a:off x="653688" y="26701334"/>
            <a:ext cx="10688106" cy="5235434"/>
          </a:xfrm>
          <a:prstGeom prst="rect">
            <a:avLst/>
          </a:prstGeom>
        </p:spPr>
      </p:pic>
    </p:spTree>
    <p:extLst>
      <p:ext uri="{BB962C8B-B14F-4D97-AF65-F5344CB8AC3E}">
        <p14:creationId xmlns:p14="http://schemas.microsoft.com/office/powerpoint/2010/main" val="783191702"/>
      </p:ext>
    </p:extLst>
  </p:cSld>
  <p:clrMapOvr>
    <a:masterClrMapping/>
  </p:clrMapOvr>
</p:sld>
</file>

<file path=ppt/theme/theme1.xml><?xml version="1.0" encoding="utf-8"?>
<a:theme xmlns:a="http://schemas.openxmlformats.org/drawingml/2006/main" name="36x48-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Without guide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1395</TotalTime>
  <Words>626</Words>
  <Application>Microsoft Macintosh PowerPoint</Application>
  <PresentationFormat>Custom</PresentationFormat>
  <Paragraphs>43</Paragraphs>
  <Slides>1</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vt:i4>
      </vt:variant>
    </vt:vector>
  </HeadingPairs>
  <TitlesOfParts>
    <vt:vector size="8" baseType="lpstr">
      <vt:lpstr>Arial</vt:lpstr>
      <vt:lpstr>Arial Black</vt:lpstr>
      <vt:lpstr>Calibri</vt:lpstr>
      <vt:lpstr>Times New Roman</vt:lpstr>
      <vt:lpstr>Trebuchet MS</vt:lpstr>
      <vt:lpstr>36x48-Template</vt:lpstr>
      <vt:lpstr>Without guides</vt:lpstr>
      <vt:lpstr>PowerPoint Presentation</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PowerPoint Presentation</dc:title>
  <dc:subject>Research poster presentation template</dc:subject>
  <dc:creator>PosterPresentations.com</dc:creator>
  <cp:keywords>36x48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Abdur Rouf</cp:lastModifiedBy>
  <cp:revision>86</cp:revision>
  <dcterms:created xsi:type="dcterms:W3CDTF">2012-02-03T19:11:35Z</dcterms:created>
  <dcterms:modified xsi:type="dcterms:W3CDTF">2025-09-30T20:58:56Z</dcterms:modified>
  <cp:category>Research poster templates</cp:category>
</cp:coreProperties>
</file>